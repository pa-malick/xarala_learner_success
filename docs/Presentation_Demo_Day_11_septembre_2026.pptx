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68" d="100"/>
          <a:sy n="68" d="100"/>
        </p:scale>
        <p:origin x="592" y="6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781011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AVANT DE COMMENCER : onglet Gmail ouvert sur le mail de 7 h, onglet du site ouvert et connecté, zoom à 100 %.</a:t>
            </a:r>
          </a:p>
          <a:p>
            <a:endParaRPr/>
          </a:p>
          <a:p>
            <a:r>
              <a:t>On ne lit pas cette diapositive.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0:00 → 0:40. Écran de côté, tu regardes le jury.</a:t>
            </a:r>
          </a:p>
          <a:p>
            <a:endParaRPr/>
          </a:p>
          <a:p>
            <a:r>
              <a:t>« Un mentor de Xarala suit cinquante apprenants. Il ne sait pas lesquels décrochent : il s'en aperçoit quand l'apprenant a déjà disparu.</a:t>
            </a:r>
          </a:p>
          <a:p>
            <a:endParaRPr/>
          </a:p>
          <a:p>
            <a:r>
              <a:t>Les signaux existent — absences, connexions, progression — mais personne ne les regarde ensemble. Et les relances vivent sur Excel.</a:t>
            </a:r>
          </a:p>
          <a:p>
            <a:endParaRPr/>
          </a:p>
          <a:p>
            <a:r>
              <a:t>Surtout : un tableau de bord ne sert qu'à celui qui pense à l'ouvrir. »</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0:40 → 1:00. Vingt secondes, pas plus. C'est le plan de la démonstration qui suit.</a:t>
            </a:r>
          </a:p>
          <a:p>
            <a:endParaRPr/>
          </a:p>
          <a:p>
            <a:r>
              <a:t>« Notre réponse tient en trois mots : détecter, expliquer, prévenir. Je vous montre les trois, en vrai, tout de suite. »</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1:00 → 1:45 — LE MOMENT FORT.</a:t>
            </a:r>
          </a:p>
          <a:p>
            <a:endParaRPr/>
          </a:p>
          <a:p>
            <a:r>
              <a:t>TU BASCULES SUR GMAIL. Le mail de 7 h, en plein écran.</a:t>
            </a:r>
          </a:p>
          <a:p>
            <a:endParaRPr/>
          </a:p>
          <a:p>
            <a:r>
              <a:t>« Ce mail est arrivé ce matin à sept heures. Personne ne l'a déclenché : je n'avais pas ouvert l'application.</a:t>
            </a:r>
          </a:p>
          <a:p>
            <a:endParaRPr/>
          </a:p>
          <a:p>
            <a:r>
              <a:t>Il dit qui décroche, dans quelle cohorte, et pourquoi : aucune connexion depuis sept jours, alors que le seuil est à sept.</a:t>
            </a:r>
          </a:p>
          <a:p>
            <a:endParaRPr/>
          </a:p>
          <a:p>
            <a:r>
              <a:t>Un seul mail par mentor. Et aucun mail quand il n'y a rien à signaler. »</a:t>
            </a:r>
          </a:p>
          <a:p>
            <a:endParaRPr/>
          </a:p>
          <a:p>
            <a:r>
              <a:t>À 1:45 tu quittes Gmail.</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1:45 → 3:30.</a:t>
            </a:r>
          </a:p>
          <a:p>
            <a:endParaRPr/>
          </a:p>
          <a:p>
            <a:r>
              <a:t>TU BASCULES SUR LE NAVIGATEUR. Tu suis les quatre écrans dans l'ordre, sans commenter le reste.</a:t>
            </a:r>
          </a:p>
          <a:p>
            <a:endParaRPr/>
          </a:p>
          <a:p>
            <a:r>
              <a:t>1. Le tableau de bord : « chaque mentor ne voit que ses cohortes. Huit signalés sur vingt-cinq — les autres vont bien, et l'outil le dit aussi. »</a:t>
            </a:r>
          </a:p>
          <a:p>
            <a:endParaRPr/>
          </a:p>
          <a:p>
            <a:r>
              <a:t>2. La fiche : « le résumé me donne le niveau, les signaux et l'état du suivi. Et l'évolution récente me dit si c'est un creux passager ou un vrai décrochage. »</a:t>
            </a:r>
          </a:p>
          <a:p>
            <a:endParaRPr/>
          </a:p>
          <a:p>
            <a:r>
              <a:t>3. L'intervention : « j'enregistre l'appel que je viens de passer — type, cause, note. La date et l'auteur sont automatiques. »</a:t>
            </a:r>
          </a:p>
          <a:p>
            <a:endParaRPr/>
          </a:p>
          <a:p>
            <a:r>
              <a:t>4. Le retour : « l'alerte s'est refermée toute seule. Il ne la reverra pas demain matin — c'est ce qui fera qu'il continuera à lire ces mails. »</a:t>
            </a:r>
          </a:p>
          <a:p>
            <a:endParaRPr/>
          </a:p>
          <a:p>
            <a:r>
              <a:t>En retard ? Saute l'évolution récente. Jamais l'intervention.</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3:30 → 3:55. Tu reviens aux diapositives.</a:t>
            </a:r>
          </a:p>
          <a:p>
            <a:endParaRPr/>
          </a:p>
          <a:p>
            <a:r>
              <a:t>« Voilà avec quoi c'est construit. Rien d'exotique : des outils standards, que n'importe quel développeur de Xarala peut reprendre.</a:t>
            </a:r>
          </a:p>
          <a:p>
            <a:endParaRPr/>
          </a:p>
          <a:p>
            <a:r>
              <a:t>Python et FastAPI pour le moteur, React pour l'interface, PostgreSQL pour les données, le tout hébergé sur Render. L'envoi du mail passe par Make et Gmail. Et tout le code vit sur GitLab, avec une relecture avant chaque fusion. »</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3:55 → 4:20. Trois arguments, un chacun.</a:t>
            </a:r>
          </a:p>
          <a:p>
            <a:endParaRPr/>
          </a:p>
          <a:p>
            <a:r>
              <a:t>« Pourquoi un mentor peut faire confiance à cet outil ?</a:t>
            </a:r>
          </a:p>
          <a:p>
            <a:endParaRPr/>
          </a:p>
          <a:p>
            <a:r>
              <a:t>Il n'y a pas de boîte noire : le score suit des règles écrites, et l'outil dit toujours laquelle s'est déclenchée.</a:t>
            </a:r>
          </a:p>
          <a:p>
            <a:endParaRPr/>
          </a:p>
          <a:p>
            <a:r>
              <a:t>Chacun ne voit que ses cohortes, et c'est le serveur qui refuse le reste.</a:t>
            </a:r>
          </a:p>
          <a:p>
            <a:endParaRPr/>
          </a:p>
          <a:p>
            <a:r>
              <a:t>Et il n'est jamais noyé : une alerte par apprenant, qui se ferme dès qu'il agit. Le tout vérifié par trois cent quatre-vingt-six tests automatiques. »</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4:20 → 4:40. Ne saute pas cette diapositive.</a:t>
            </a:r>
          </a:p>
          <a:p>
            <a:endParaRPr/>
          </a:p>
          <a:p>
            <a:r>
              <a:t>« On s'est réparti le travail en trois : Kiné a tenu le terrain et les livrables, Cheikh a fait toute l'interface, j'ai fait le moteur, les alertes et les tests. Et rien n'entre dans la version commune sans être relu par un autre. »</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4:40 → 4:52. Assume : c'est plus solide que de le cacher.</a:t>
            </a:r>
          </a:p>
          <a:p>
            <a:endParaRPr/>
          </a:p>
          <a:p>
            <a:r>
              <a:t>« Trois choses ne sont pas finies, et on les dit : l'envoi du mail passe encore par un service extérieur, la base gratuite expire dans une semaine, et créer un compte mentor se fait encore en ligne de commande. »</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4:52 → 5:00. Lentement, puis tu te tais.</a:t>
            </a:r>
          </a:p>
          <a:p>
            <a:endParaRPr/>
          </a:p>
          <a:p>
            <a:r>
              <a:t>« Notre question de départ était : quel apprenant dois-je relancer aujourd'hui, et pourquoi. Aujourd'hui elle est devenue : qu'est-ce qui a changé depuis hier, et qui faut-il prévenir. Merci. »</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4181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6858000"/>
          </a:xfrm>
          <a:prstGeom prst="rect">
            <a:avLst/>
          </a:prstGeom>
          <a:solidFill>
            <a:srgbClr val="EE6C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05840" y="1463040"/>
            <a:ext cx="10058400" cy="457200"/>
          </a:xfrm>
          <a:prstGeom prst="rect">
            <a:avLst/>
          </a:prstGeom>
          <a:noFill/>
        </p:spPr>
        <p:txBody>
          <a:bodyPr wrap="square" anchor="t">
            <a:spAutoFit/>
          </a:bodyPr>
          <a:lstStyle/>
          <a:p>
            <a:pPr algn="l">
              <a:lnSpc>
                <a:spcPct val="115000"/>
              </a:lnSpc>
            </a:pPr>
            <a:r>
              <a:rPr sz="1500" b="1">
                <a:solidFill>
                  <a:srgbClr val="EE6C1E"/>
                </a:solidFill>
                <a:latin typeface="Segoe UI"/>
              </a:rPr>
              <a:t>SQUAD DJOLOFF · DJ-01</a:t>
            </a:r>
          </a:p>
        </p:txBody>
      </p:sp>
      <p:sp>
        <p:nvSpPr>
          <p:cNvPr id="4" name="TextBox 3"/>
          <p:cNvSpPr txBox="1"/>
          <p:nvPr/>
        </p:nvSpPr>
        <p:spPr>
          <a:xfrm>
            <a:off x="1005840" y="1965960"/>
            <a:ext cx="10515600" cy="1280160"/>
          </a:xfrm>
          <a:prstGeom prst="rect">
            <a:avLst/>
          </a:prstGeom>
          <a:noFill/>
        </p:spPr>
        <p:txBody>
          <a:bodyPr wrap="square" anchor="t">
            <a:spAutoFit/>
          </a:bodyPr>
          <a:lstStyle/>
          <a:p>
            <a:pPr algn="l">
              <a:lnSpc>
                <a:spcPct val="115000"/>
              </a:lnSpc>
            </a:pPr>
            <a:r>
              <a:rPr sz="6600" b="1">
                <a:solidFill>
                  <a:srgbClr val="FFFFFF"/>
                </a:solidFill>
                <a:latin typeface="Segoe UI"/>
              </a:rPr>
              <a:t>Learner Success</a:t>
            </a:r>
          </a:p>
        </p:txBody>
      </p:sp>
      <p:sp>
        <p:nvSpPr>
          <p:cNvPr id="5" name="TextBox 4"/>
          <p:cNvSpPr txBox="1"/>
          <p:nvPr/>
        </p:nvSpPr>
        <p:spPr>
          <a:xfrm>
            <a:off x="1005840" y="3246120"/>
            <a:ext cx="9601200" cy="914400"/>
          </a:xfrm>
          <a:prstGeom prst="rect">
            <a:avLst/>
          </a:prstGeom>
          <a:noFill/>
        </p:spPr>
        <p:txBody>
          <a:bodyPr wrap="square" anchor="t">
            <a:spAutoFit/>
          </a:bodyPr>
          <a:lstStyle/>
          <a:p>
            <a:pPr algn="l">
              <a:lnSpc>
                <a:spcPct val="130000"/>
              </a:lnSpc>
            </a:pPr>
            <a:r>
              <a:rPr sz="2400" b="0">
                <a:solidFill>
                  <a:srgbClr val="A8B0BB"/>
                </a:solidFill>
                <a:latin typeface="Segoe UI"/>
              </a:rPr>
              <a:t>Prévenir le mentor avant que l'apprenant disparaisse.</a:t>
            </a:r>
          </a:p>
        </p:txBody>
      </p:sp>
      <p:sp>
        <p:nvSpPr>
          <p:cNvPr id="6" name="Rectangle 5"/>
          <p:cNvSpPr/>
          <p:nvPr/>
        </p:nvSpPr>
        <p:spPr>
          <a:xfrm>
            <a:off x="1005840" y="4389120"/>
            <a:ext cx="2011680" cy="27432"/>
          </a:xfrm>
          <a:prstGeom prst="rect">
            <a:avLst/>
          </a:prstGeom>
          <a:solidFill>
            <a:srgbClr val="3A42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05840" y="4754880"/>
            <a:ext cx="10058400" cy="1097280"/>
          </a:xfrm>
          <a:prstGeom prst="rect">
            <a:avLst/>
          </a:prstGeom>
          <a:noFill/>
        </p:spPr>
        <p:txBody>
          <a:bodyPr wrap="square" anchor="t">
            <a:spAutoFit/>
          </a:bodyPr>
          <a:lstStyle/>
          <a:p>
            <a:pPr algn="l">
              <a:lnSpc>
                <a:spcPct val="170000"/>
              </a:lnSpc>
            </a:pPr>
            <a:r>
              <a:rPr sz="1500" b="0">
                <a:solidFill>
                  <a:srgbClr val="A8B0BB"/>
                </a:solidFill>
                <a:latin typeface="Segoe UI"/>
              </a:rPr>
              <a:t>Papa Malick NDIAYE  ·  Cheikh Massamba Dia  ·  Kiné DIALLO</a:t>
            </a:r>
          </a:p>
          <a:p>
            <a:pPr algn="l">
              <a:lnSpc>
                <a:spcPct val="170000"/>
              </a:lnSpc>
            </a:pPr>
            <a:r>
              <a:rPr sz="1500" b="0">
                <a:solidFill>
                  <a:srgbClr val="A8B0BB"/>
                </a:solidFill>
                <a:latin typeface="Segoe UI"/>
              </a:rPr>
              <a:t>Demo Day — vendredi 11 septembre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BFAF7"/>
        </a:solidFill>
        <a:effectLst/>
      </p:bgPr>
    </p:bg>
    <p:spTree>
      <p:nvGrpSpPr>
        <p:cNvPr id="1" name=""/>
        <p:cNvGrpSpPr/>
        <p:nvPr/>
      </p:nvGrpSpPr>
      <p:grpSpPr>
        <a:xfrm>
          <a:off x="0" y="0"/>
          <a:ext cx="0" cy="0"/>
          <a:chOff x="0" y="0"/>
          <a:chExt cx="0" cy="0"/>
        </a:xfrm>
      </p:grpSpPr>
      <p:sp>
        <p:nvSpPr>
          <p:cNvPr id="2" name="TextBox 1"/>
          <p:cNvSpPr txBox="1"/>
          <p:nvPr/>
        </p:nvSpPr>
        <p:spPr>
          <a:xfrm>
            <a:off x="822960" y="566928"/>
            <a:ext cx="7315200" cy="365760"/>
          </a:xfrm>
          <a:prstGeom prst="rect">
            <a:avLst/>
          </a:prstGeom>
          <a:noFill/>
        </p:spPr>
        <p:txBody>
          <a:bodyPr wrap="square" anchor="t">
            <a:spAutoFit/>
          </a:bodyPr>
          <a:lstStyle/>
          <a:p>
            <a:pPr algn="l">
              <a:lnSpc>
                <a:spcPct val="115000"/>
              </a:lnSpc>
            </a:pPr>
            <a:r>
              <a:rPr sz="1200" b="1">
                <a:solidFill>
                  <a:srgbClr val="EE6C1E"/>
                </a:solidFill>
                <a:latin typeface="Segoe UI"/>
              </a:rPr>
              <a:t>LE PROBLÈME</a:t>
            </a:r>
          </a:p>
        </p:txBody>
      </p:sp>
      <p:sp>
        <p:nvSpPr>
          <p:cNvPr id="3" name="TextBox 2"/>
          <p:cNvSpPr txBox="1"/>
          <p:nvPr/>
        </p:nvSpPr>
        <p:spPr>
          <a:xfrm>
            <a:off x="822960" y="1024128"/>
            <a:ext cx="9326880" cy="914400"/>
          </a:xfrm>
          <a:prstGeom prst="rect">
            <a:avLst/>
          </a:prstGeom>
          <a:noFill/>
        </p:spPr>
        <p:txBody>
          <a:bodyPr wrap="square" anchor="t">
            <a:spAutoFit/>
          </a:bodyPr>
          <a:lstStyle/>
          <a:p>
            <a:pPr algn="l">
              <a:lnSpc>
                <a:spcPct val="115000"/>
              </a:lnSpc>
            </a:pPr>
            <a:r>
              <a:rPr sz="4000" b="1">
                <a:solidFill>
                  <a:srgbClr val="14181F"/>
                </a:solidFill>
                <a:latin typeface="Segoe UI"/>
              </a:rPr>
              <a:t>Il l'apprend quand c'est déjà trop tard.</a:t>
            </a:r>
          </a:p>
        </p:txBody>
      </p:sp>
      <p:sp>
        <p:nvSpPr>
          <p:cNvPr id="4" name="TextBox 3"/>
          <p:cNvSpPr txBox="1"/>
          <p:nvPr/>
        </p:nvSpPr>
        <p:spPr>
          <a:xfrm>
            <a:off x="9966960" y="566928"/>
            <a:ext cx="1463040" cy="365760"/>
          </a:xfrm>
          <a:prstGeom prst="rect">
            <a:avLst/>
          </a:prstGeom>
          <a:noFill/>
        </p:spPr>
        <p:txBody>
          <a:bodyPr wrap="square" anchor="t">
            <a:spAutoFit/>
          </a:bodyPr>
          <a:lstStyle/>
          <a:p>
            <a:pPr algn="r">
              <a:lnSpc>
                <a:spcPct val="115000"/>
              </a:lnSpc>
            </a:pPr>
            <a:r>
              <a:rPr sz="1200" b="1">
                <a:solidFill>
                  <a:srgbClr val="6B7482"/>
                </a:solidFill>
                <a:latin typeface="Segoe UI"/>
              </a:rPr>
              <a:t>0:00</a:t>
            </a:r>
          </a:p>
        </p:txBody>
      </p:sp>
      <p:sp>
        <p:nvSpPr>
          <p:cNvPr id="5" name="Oval 4"/>
          <p:cNvSpPr/>
          <p:nvPr/>
        </p:nvSpPr>
        <p:spPr>
          <a:xfrm>
            <a:off x="868680" y="2514600"/>
            <a:ext cx="384048" cy="384048"/>
          </a:xfrm>
          <a:prstGeom prst="ellipse">
            <a:avLst/>
          </a:prstGeom>
          <a:solidFill>
            <a:srgbClr val="EE6C1E"/>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300" b="1">
                <a:solidFill>
                  <a:srgbClr val="FFFFFF"/>
                </a:solidFill>
                <a:latin typeface="Segoe UI"/>
              </a:rPr>
              <a:t>1</a:t>
            </a:r>
          </a:p>
        </p:txBody>
      </p:sp>
      <p:sp>
        <p:nvSpPr>
          <p:cNvPr id="6" name="TextBox 5"/>
          <p:cNvSpPr txBox="1"/>
          <p:nvPr/>
        </p:nvSpPr>
        <p:spPr>
          <a:xfrm>
            <a:off x="1508760" y="2478024"/>
            <a:ext cx="9875520" cy="685800"/>
          </a:xfrm>
          <a:prstGeom prst="rect">
            <a:avLst/>
          </a:prstGeom>
          <a:noFill/>
        </p:spPr>
        <p:txBody>
          <a:bodyPr wrap="square" anchor="t">
            <a:spAutoFit/>
          </a:bodyPr>
          <a:lstStyle/>
          <a:p>
            <a:pPr algn="l">
              <a:lnSpc>
                <a:spcPct val="125000"/>
              </a:lnSpc>
            </a:pPr>
            <a:r>
              <a:rPr sz="2000" b="0">
                <a:solidFill>
                  <a:srgbClr val="14181F"/>
                </a:solidFill>
                <a:latin typeface="Segoe UI"/>
              </a:rPr>
              <a:t>Un mentor suit cinquante apprenants.</a:t>
            </a:r>
          </a:p>
        </p:txBody>
      </p:sp>
      <p:sp>
        <p:nvSpPr>
          <p:cNvPr id="7" name="Oval 6"/>
          <p:cNvSpPr/>
          <p:nvPr/>
        </p:nvSpPr>
        <p:spPr>
          <a:xfrm>
            <a:off x="868680" y="3520440"/>
            <a:ext cx="384048" cy="384048"/>
          </a:xfrm>
          <a:prstGeom prst="ellipse">
            <a:avLst/>
          </a:prstGeom>
          <a:solidFill>
            <a:srgbClr val="EE6C1E"/>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300" b="1">
                <a:solidFill>
                  <a:srgbClr val="FFFFFF"/>
                </a:solidFill>
                <a:latin typeface="Segoe UI"/>
              </a:rPr>
              <a:t>2</a:t>
            </a:r>
          </a:p>
        </p:txBody>
      </p:sp>
      <p:sp>
        <p:nvSpPr>
          <p:cNvPr id="8" name="TextBox 7"/>
          <p:cNvSpPr txBox="1"/>
          <p:nvPr/>
        </p:nvSpPr>
        <p:spPr>
          <a:xfrm>
            <a:off x="1508760" y="3483864"/>
            <a:ext cx="9875520" cy="685800"/>
          </a:xfrm>
          <a:prstGeom prst="rect">
            <a:avLst/>
          </a:prstGeom>
          <a:noFill/>
        </p:spPr>
        <p:txBody>
          <a:bodyPr wrap="square" anchor="t">
            <a:spAutoFit/>
          </a:bodyPr>
          <a:lstStyle/>
          <a:p>
            <a:pPr algn="l">
              <a:lnSpc>
                <a:spcPct val="125000"/>
              </a:lnSpc>
            </a:pPr>
            <a:r>
              <a:rPr sz="2000" b="0">
                <a:solidFill>
                  <a:srgbClr val="14181F"/>
                </a:solidFill>
                <a:latin typeface="Segoe UI"/>
              </a:rPr>
              <a:t>Trois signaux existent déjà. Personne ne les regarde ensemble.</a:t>
            </a:r>
          </a:p>
        </p:txBody>
      </p:sp>
      <p:sp>
        <p:nvSpPr>
          <p:cNvPr id="9" name="Oval 8"/>
          <p:cNvSpPr/>
          <p:nvPr/>
        </p:nvSpPr>
        <p:spPr>
          <a:xfrm>
            <a:off x="868680" y="4526280"/>
            <a:ext cx="384048" cy="384048"/>
          </a:xfrm>
          <a:prstGeom prst="ellipse">
            <a:avLst/>
          </a:prstGeom>
          <a:solidFill>
            <a:srgbClr val="EE6C1E"/>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300" b="1">
                <a:solidFill>
                  <a:srgbClr val="FFFFFF"/>
                </a:solidFill>
                <a:latin typeface="Segoe UI"/>
              </a:rPr>
              <a:t>3</a:t>
            </a:r>
          </a:p>
        </p:txBody>
      </p:sp>
      <p:sp>
        <p:nvSpPr>
          <p:cNvPr id="10" name="TextBox 9"/>
          <p:cNvSpPr txBox="1"/>
          <p:nvPr/>
        </p:nvSpPr>
        <p:spPr>
          <a:xfrm>
            <a:off x="1508760" y="4489704"/>
            <a:ext cx="9875520" cy="685800"/>
          </a:xfrm>
          <a:prstGeom prst="rect">
            <a:avLst/>
          </a:prstGeom>
          <a:noFill/>
        </p:spPr>
        <p:txBody>
          <a:bodyPr wrap="square" anchor="t">
            <a:spAutoFit/>
          </a:bodyPr>
          <a:lstStyle/>
          <a:p>
            <a:pPr algn="l">
              <a:lnSpc>
                <a:spcPct val="125000"/>
              </a:lnSpc>
            </a:pPr>
            <a:r>
              <a:rPr sz="2000" b="0" dirty="0">
                <a:solidFill>
                  <a:srgbClr val="14181F"/>
                </a:solidFill>
                <a:latin typeface="Segoe UI"/>
              </a:rPr>
              <a:t>Un tableau de bord ne </a:t>
            </a:r>
            <a:r>
              <a:rPr sz="2000" b="0" dirty="0" err="1">
                <a:solidFill>
                  <a:srgbClr val="14181F"/>
                </a:solidFill>
                <a:latin typeface="Segoe UI"/>
              </a:rPr>
              <a:t>sert</a:t>
            </a:r>
            <a:r>
              <a:rPr sz="2000" b="0" dirty="0">
                <a:solidFill>
                  <a:srgbClr val="14181F"/>
                </a:solidFill>
                <a:latin typeface="Segoe UI"/>
              </a:rPr>
              <a:t> </a:t>
            </a:r>
            <a:r>
              <a:rPr sz="2000" b="0" dirty="0" err="1">
                <a:solidFill>
                  <a:srgbClr val="14181F"/>
                </a:solidFill>
                <a:latin typeface="Segoe UI"/>
              </a:rPr>
              <a:t>qu'à</a:t>
            </a:r>
            <a:r>
              <a:rPr sz="2000" b="0" dirty="0">
                <a:solidFill>
                  <a:srgbClr val="14181F"/>
                </a:solidFill>
                <a:latin typeface="Segoe UI"/>
              </a:rPr>
              <a:t> </a:t>
            </a:r>
            <a:r>
              <a:rPr sz="2000" b="0" dirty="0" err="1">
                <a:solidFill>
                  <a:srgbClr val="14181F"/>
                </a:solidFill>
                <a:latin typeface="Segoe UI"/>
              </a:rPr>
              <a:t>celui</a:t>
            </a:r>
            <a:r>
              <a:rPr sz="2000" b="0" dirty="0">
                <a:solidFill>
                  <a:srgbClr val="14181F"/>
                </a:solidFill>
                <a:latin typeface="Segoe UI"/>
              </a:rPr>
              <a:t> qui </a:t>
            </a:r>
            <a:r>
              <a:rPr sz="2000" b="0" dirty="0" err="1">
                <a:solidFill>
                  <a:srgbClr val="14181F"/>
                </a:solidFill>
                <a:latin typeface="Segoe UI"/>
              </a:rPr>
              <a:t>pense</a:t>
            </a:r>
            <a:r>
              <a:rPr sz="2000" b="0" dirty="0">
                <a:solidFill>
                  <a:srgbClr val="14181F"/>
                </a:solidFill>
                <a:latin typeface="Segoe UI"/>
              </a:rPr>
              <a:t> à </a:t>
            </a:r>
            <a:r>
              <a:rPr sz="2000" b="0" dirty="0" err="1">
                <a:solidFill>
                  <a:srgbClr val="14181F"/>
                </a:solidFill>
                <a:latin typeface="Segoe UI"/>
              </a:rPr>
              <a:t>l'ouvrir</a:t>
            </a:r>
            <a:r>
              <a:rPr sz="2000" b="0" dirty="0">
                <a:solidFill>
                  <a:srgbClr val="14181F"/>
                </a:solidFill>
                <a:latin typeface="Segoe UI"/>
              </a:rPr>
              <a:t>.</a:t>
            </a:r>
          </a:p>
        </p:txBody>
      </p:sp>
      <p:sp>
        <p:nvSpPr>
          <p:cNvPr id="11" name="TextBox 10"/>
          <p:cNvSpPr txBox="1"/>
          <p:nvPr/>
        </p:nvSpPr>
        <p:spPr>
          <a:xfrm>
            <a:off x="822960" y="6355080"/>
            <a:ext cx="7315200" cy="320040"/>
          </a:xfrm>
          <a:prstGeom prst="rect">
            <a:avLst/>
          </a:prstGeom>
          <a:noFill/>
        </p:spPr>
        <p:txBody>
          <a:bodyPr wrap="square" anchor="t">
            <a:spAutoFit/>
          </a:bodyPr>
          <a:lstStyle/>
          <a:p>
            <a:pPr algn="l">
              <a:lnSpc>
                <a:spcPct val="115000"/>
              </a:lnSpc>
            </a:pPr>
            <a:r>
              <a:rPr sz="1000" b="0">
                <a:solidFill>
                  <a:srgbClr val="6B7482"/>
                </a:solidFill>
                <a:latin typeface="Segoe UI"/>
              </a:rPr>
              <a:t>Learner Success · Squad Djoloff DJ-01</a:t>
            </a:r>
          </a:p>
        </p:txBody>
      </p:sp>
      <p:sp>
        <p:nvSpPr>
          <p:cNvPr id="12" name="TextBox 11"/>
          <p:cNvSpPr txBox="1"/>
          <p:nvPr/>
        </p:nvSpPr>
        <p:spPr>
          <a:xfrm>
            <a:off x="10424160" y="6355080"/>
            <a:ext cx="1005840" cy="320040"/>
          </a:xfrm>
          <a:prstGeom prst="rect">
            <a:avLst/>
          </a:prstGeom>
          <a:noFill/>
        </p:spPr>
        <p:txBody>
          <a:bodyPr wrap="square" anchor="t">
            <a:spAutoFit/>
          </a:bodyPr>
          <a:lstStyle/>
          <a:p>
            <a:pPr algn="r">
              <a:lnSpc>
                <a:spcPct val="115000"/>
              </a:lnSpc>
            </a:pPr>
            <a:r>
              <a:rPr sz="1000" b="0">
                <a:solidFill>
                  <a:srgbClr val="6B7482"/>
                </a:solidFill>
                <a:latin typeface="Segoe UI"/>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BFAF7"/>
        </a:solidFill>
        <a:effectLst/>
      </p:bgPr>
    </p:bg>
    <p:spTree>
      <p:nvGrpSpPr>
        <p:cNvPr id="1" name=""/>
        <p:cNvGrpSpPr/>
        <p:nvPr/>
      </p:nvGrpSpPr>
      <p:grpSpPr>
        <a:xfrm>
          <a:off x="0" y="0"/>
          <a:ext cx="0" cy="0"/>
          <a:chOff x="0" y="0"/>
          <a:chExt cx="0" cy="0"/>
        </a:xfrm>
      </p:grpSpPr>
      <p:sp>
        <p:nvSpPr>
          <p:cNvPr id="2" name="TextBox 1"/>
          <p:cNvSpPr txBox="1"/>
          <p:nvPr/>
        </p:nvSpPr>
        <p:spPr>
          <a:xfrm>
            <a:off x="822960" y="566928"/>
            <a:ext cx="7315200" cy="365760"/>
          </a:xfrm>
          <a:prstGeom prst="rect">
            <a:avLst/>
          </a:prstGeom>
          <a:noFill/>
        </p:spPr>
        <p:txBody>
          <a:bodyPr wrap="square" anchor="t">
            <a:spAutoFit/>
          </a:bodyPr>
          <a:lstStyle/>
          <a:p>
            <a:pPr algn="l">
              <a:lnSpc>
                <a:spcPct val="115000"/>
              </a:lnSpc>
            </a:pPr>
            <a:r>
              <a:rPr sz="1200" b="1">
                <a:solidFill>
                  <a:srgbClr val="EE6C1E"/>
                </a:solidFill>
                <a:latin typeface="Segoe UI"/>
              </a:rPr>
              <a:t>NOTRE RÉPONSE</a:t>
            </a:r>
          </a:p>
        </p:txBody>
      </p:sp>
      <p:sp>
        <p:nvSpPr>
          <p:cNvPr id="3" name="TextBox 2"/>
          <p:cNvSpPr txBox="1"/>
          <p:nvPr/>
        </p:nvSpPr>
        <p:spPr>
          <a:xfrm>
            <a:off x="822960" y="1024128"/>
            <a:ext cx="9326880" cy="914400"/>
          </a:xfrm>
          <a:prstGeom prst="rect">
            <a:avLst/>
          </a:prstGeom>
          <a:noFill/>
        </p:spPr>
        <p:txBody>
          <a:bodyPr wrap="square" anchor="t">
            <a:spAutoFit/>
          </a:bodyPr>
          <a:lstStyle/>
          <a:p>
            <a:pPr algn="l">
              <a:lnSpc>
                <a:spcPct val="115000"/>
              </a:lnSpc>
            </a:pPr>
            <a:r>
              <a:rPr sz="4000" b="1">
                <a:solidFill>
                  <a:srgbClr val="14181F"/>
                </a:solidFill>
                <a:latin typeface="Segoe UI"/>
              </a:rPr>
              <a:t>Détecter, expliquer, prévenir.</a:t>
            </a:r>
          </a:p>
        </p:txBody>
      </p:sp>
      <p:sp>
        <p:nvSpPr>
          <p:cNvPr id="4" name="TextBox 3"/>
          <p:cNvSpPr txBox="1"/>
          <p:nvPr/>
        </p:nvSpPr>
        <p:spPr>
          <a:xfrm>
            <a:off x="9966960" y="566928"/>
            <a:ext cx="1463040" cy="365760"/>
          </a:xfrm>
          <a:prstGeom prst="rect">
            <a:avLst/>
          </a:prstGeom>
          <a:noFill/>
        </p:spPr>
        <p:txBody>
          <a:bodyPr wrap="square" anchor="t">
            <a:spAutoFit/>
          </a:bodyPr>
          <a:lstStyle/>
          <a:p>
            <a:pPr algn="r">
              <a:lnSpc>
                <a:spcPct val="115000"/>
              </a:lnSpc>
            </a:pPr>
            <a:r>
              <a:rPr sz="1200" b="1">
                <a:solidFill>
                  <a:srgbClr val="6B7482"/>
                </a:solidFill>
                <a:latin typeface="Segoe UI"/>
              </a:rPr>
              <a:t>0:40</a:t>
            </a:r>
          </a:p>
        </p:txBody>
      </p:sp>
      <p:sp>
        <p:nvSpPr>
          <p:cNvPr id="5" name="Oval 4"/>
          <p:cNvSpPr/>
          <p:nvPr/>
        </p:nvSpPr>
        <p:spPr>
          <a:xfrm>
            <a:off x="868680" y="2514600"/>
            <a:ext cx="384048" cy="384048"/>
          </a:xfrm>
          <a:prstGeom prst="ellipse">
            <a:avLst/>
          </a:prstGeom>
          <a:solidFill>
            <a:srgbClr val="EE6C1E"/>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300" b="1">
                <a:solidFill>
                  <a:srgbClr val="FFFFFF"/>
                </a:solidFill>
                <a:latin typeface="Segoe UI"/>
              </a:rPr>
              <a:t>1</a:t>
            </a:r>
          </a:p>
        </p:txBody>
      </p:sp>
      <p:sp>
        <p:nvSpPr>
          <p:cNvPr id="6" name="TextBox 5"/>
          <p:cNvSpPr txBox="1"/>
          <p:nvPr/>
        </p:nvSpPr>
        <p:spPr>
          <a:xfrm>
            <a:off x="1508760" y="2478024"/>
            <a:ext cx="9875520" cy="685800"/>
          </a:xfrm>
          <a:prstGeom prst="rect">
            <a:avLst/>
          </a:prstGeom>
          <a:noFill/>
        </p:spPr>
        <p:txBody>
          <a:bodyPr wrap="square" anchor="t">
            <a:spAutoFit/>
          </a:bodyPr>
          <a:lstStyle/>
          <a:p>
            <a:pPr algn="l">
              <a:lnSpc>
                <a:spcPct val="125000"/>
              </a:lnSpc>
            </a:pPr>
            <a:r>
              <a:rPr sz="2000" b="0">
                <a:solidFill>
                  <a:srgbClr val="14181F"/>
                </a:solidFill>
                <a:latin typeface="Segoe UI"/>
              </a:rPr>
              <a:t>Détecter — un feu rouge, orange ou vert pour chaque apprenant.</a:t>
            </a:r>
          </a:p>
        </p:txBody>
      </p:sp>
      <p:sp>
        <p:nvSpPr>
          <p:cNvPr id="7" name="Oval 6"/>
          <p:cNvSpPr/>
          <p:nvPr/>
        </p:nvSpPr>
        <p:spPr>
          <a:xfrm>
            <a:off x="868680" y="3520440"/>
            <a:ext cx="384048" cy="384048"/>
          </a:xfrm>
          <a:prstGeom prst="ellipse">
            <a:avLst/>
          </a:prstGeom>
          <a:solidFill>
            <a:srgbClr val="EE6C1E"/>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300" b="1">
                <a:solidFill>
                  <a:srgbClr val="FFFFFF"/>
                </a:solidFill>
                <a:latin typeface="Segoe UI"/>
              </a:rPr>
              <a:t>2</a:t>
            </a:r>
          </a:p>
        </p:txBody>
      </p:sp>
      <p:sp>
        <p:nvSpPr>
          <p:cNvPr id="8" name="TextBox 7"/>
          <p:cNvSpPr txBox="1"/>
          <p:nvPr/>
        </p:nvSpPr>
        <p:spPr>
          <a:xfrm>
            <a:off x="1508760" y="3483864"/>
            <a:ext cx="9875520" cy="685800"/>
          </a:xfrm>
          <a:prstGeom prst="rect">
            <a:avLst/>
          </a:prstGeom>
          <a:noFill/>
        </p:spPr>
        <p:txBody>
          <a:bodyPr wrap="square" anchor="t">
            <a:spAutoFit/>
          </a:bodyPr>
          <a:lstStyle/>
          <a:p>
            <a:pPr algn="l">
              <a:lnSpc>
                <a:spcPct val="125000"/>
              </a:lnSpc>
            </a:pPr>
            <a:r>
              <a:rPr sz="2000" b="0">
                <a:solidFill>
                  <a:srgbClr val="14181F"/>
                </a:solidFill>
                <a:latin typeface="Segoe UI"/>
              </a:rPr>
              <a:t>Expliquer — la raison écrite en français, contestable.</a:t>
            </a:r>
          </a:p>
        </p:txBody>
      </p:sp>
      <p:sp>
        <p:nvSpPr>
          <p:cNvPr id="9" name="Oval 8"/>
          <p:cNvSpPr/>
          <p:nvPr/>
        </p:nvSpPr>
        <p:spPr>
          <a:xfrm>
            <a:off x="868680" y="4526280"/>
            <a:ext cx="384048" cy="384048"/>
          </a:xfrm>
          <a:prstGeom prst="ellipse">
            <a:avLst/>
          </a:prstGeom>
          <a:solidFill>
            <a:srgbClr val="EE6C1E"/>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300" b="1">
                <a:solidFill>
                  <a:srgbClr val="FFFFFF"/>
                </a:solidFill>
                <a:latin typeface="Segoe UI"/>
              </a:rPr>
              <a:t>3</a:t>
            </a:r>
          </a:p>
        </p:txBody>
      </p:sp>
      <p:sp>
        <p:nvSpPr>
          <p:cNvPr id="10" name="TextBox 9"/>
          <p:cNvSpPr txBox="1"/>
          <p:nvPr/>
        </p:nvSpPr>
        <p:spPr>
          <a:xfrm>
            <a:off x="1508760" y="4489704"/>
            <a:ext cx="9875520" cy="685800"/>
          </a:xfrm>
          <a:prstGeom prst="rect">
            <a:avLst/>
          </a:prstGeom>
          <a:noFill/>
        </p:spPr>
        <p:txBody>
          <a:bodyPr wrap="square" anchor="t">
            <a:spAutoFit/>
          </a:bodyPr>
          <a:lstStyle/>
          <a:p>
            <a:pPr algn="l">
              <a:lnSpc>
                <a:spcPct val="125000"/>
              </a:lnSpc>
            </a:pPr>
            <a:r>
              <a:rPr sz="2000" b="0">
                <a:solidFill>
                  <a:srgbClr val="14181F"/>
                </a:solidFill>
                <a:latin typeface="Segoe UI"/>
              </a:rPr>
              <a:t>Prévenir — un mail au mentor chaque matin à 7 h.</a:t>
            </a:r>
          </a:p>
        </p:txBody>
      </p:sp>
      <p:sp>
        <p:nvSpPr>
          <p:cNvPr id="11" name="TextBox 10"/>
          <p:cNvSpPr txBox="1"/>
          <p:nvPr/>
        </p:nvSpPr>
        <p:spPr>
          <a:xfrm>
            <a:off x="822960" y="6355080"/>
            <a:ext cx="7315200" cy="320040"/>
          </a:xfrm>
          <a:prstGeom prst="rect">
            <a:avLst/>
          </a:prstGeom>
          <a:noFill/>
        </p:spPr>
        <p:txBody>
          <a:bodyPr wrap="square" anchor="t">
            <a:spAutoFit/>
          </a:bodyPr>
          <a:lstStyle/>
          <a:p>
            <a:pPr algn="l">
              <a:lnSpc>
                <a:spcPct val="115000"/>
              </a:lnSpc>
            </a:pPr>
            <a:r>
              <a:rPr sz="1000" b="0">
                <a:solidFill>
                  <a:srgbClr val="6B7482"/>
                </a:solidFill>
                <a:latin typeface="Segoe UI"/>
              </a:rPr>
              <a:t>Learner Success · Squad Djoloff DJ-01</a:t>
            </a:r>
          </a:p>
        </p:txBody>
      </p:sp>
      <p:sp>
        <p:nvSpPr>
          <p:cNvPr id="12" name="TextBox 11"/>
          <p:cNvSpPr txBox="1"/>
          <p:nvPr/>
        </p:nvSpPr>
        <p:spPr>
          <a:xfrm>
            <a:off x="10424160" y="6355080"/>
            <a:ext cx="1005840" cy="320040"/>
          </a:xfrm>
          <a:prstGeom prst="rect">
            <a:avLst/>
          </a:prstGeom>
          <a:noFill/>
        </p:spPr>
        <p:txBody>
          <a:bodyPr wrap="square" anchor="t">
            <a:spAutoFit/>
          </a:bodyPr>
          <a:lstStyle/>
          <a:p>
            <a:pPr algn="r">
              <a:lnSpc>
                <a:spcPct val="115000"/>
              </a:lnSpc>
            </a:pPr>
            <a:r>
              <a:rPr sz="1000" b="0">
                <a:solidFill>
                  <a:srgbClr val="6B7482"/>
                </a:solidFill>
                <a:latin typeface="Segoe UI"/>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4181F"/>
        </a:solidFill>
        <a:effectLst/>
      </p:bgPr>
    </p:bg>
    <p:spTree>
      <p:nvGrpSpPr>
        <p:cNvPr id="1" name=""/>
        <p:cNvGrpSpPr/>
        <p:nvPr/>
      </p:nvGrpSpPr>
      <p:grpSpPr>
        <a:xfrm>
          <a:off x="0" y="0"/>
          <a:ext cx="0" cy="0"/>
          <a:chOff x="0" y="0"/>
          <a:chExt cx="0" cy="0"/>
        </a:xfrm>
      </p:grpSpPr>
      <p:sp>
        <p:nvSpPr>
          <p:cNvPr id="2" name="TextBox 1"/>
          <p:cNvSpPr txBox="1"/>
          <p:nvPr/>
        </p:nvSpPr>
        <p:spPr>
          <a:xfrm>
            <a:off x="822960" y="566928"/>
            <a:ext cx="7315200" cy="365760"/>
          </a:xfrm>
          <a:prstGeom prst="rect">
            <a:avLst/>
          </a:prstGeom>
          <a:noFill/>
        </p:spPr>
        <p:txBody>
          <a:bodyPr wrap="square" anchor="t">
            <a:spAutoFit/>
          </a:bodyPr>
          <a:lstStyle/>
          <a:p>
            <a:pPr algn="l">
              <a:lnSpc>
                <a:spcPct val="115000"/>
              </a:lnSpc>
            </a:pPr>
            <a:r>
              <a:rPr sz="1200" b="1">
                <a:solidFill>
                  <a:srgbClr val="EE6C1E"/>
                </a:solidFill>
                <a:latin typeface="Segoe UI"/>
              </a:rPr>
              <a:t>DÉMONSTRATION · 1</a:t>
            </a:r>
          </a:p>
        </p:txBody>
      </p:sp>
      <p:sp>
        <p:nvSpPr>
          <p:cNvPr id="3" name="TextBox 2"/>
          <p:cNvSpPr txBox="1"/>
          <p:nvPr/>
        </p:nvSpPr>
        <p:spPr>
          <a:xfrm>
            <a:off x="822960" y="1024128"/>
            <a:ext cx="9326880" cy="914400"/>
          </a:xfrm>
          <a:prstGeom prst="rect">
            <a:avLst/>
          </a:prstGeom>
          <a:noFill/>
        </p:spPr>
        <p:txBody>
          <a:bodyPr wrap="square" anchor="t">
            <a:spAutoFit/>
          </a:bodyPr>
          <a:lstStyle/>
          <a:p>
            <a:pPr algn="l">
              <a:lnSpc>
                <a:spcPct val="115000"/>
              </a:lnSpc>
            </a:pPr>
            <a:r>
              <a:rPr sz="4000" b="1">
                <a:solidFill>
                  <a:srgbClr val="FFFFFF"/>
                </a:solidFill>
                <a:latin typeface="Segoe UI"/>
              </a:rPr>
              <a:t>Le mail reçu ce matin à 7 h</a:t>
            </a:r>
          </a:p>
        </p:txBody>
      </p:sp>
      <p:sp>
        <p:nvSpPr>
          <p:cNvPr id="4" name="TextBox 3"/>
          <p:cNvSpPr txBox="1"/>
          <p:nvPr/>
        </p:nvSpPr>
        <p:spPr>
          <a:xfrm>
            <a:off x="9966960" y="566928"/>
            <a:ext cx="1463040" cy="365760"/>
          </a:xfrm>
          <a:prstGeom prst="rect">
            <a:avLst/>
          </a:prstGeom>
          <a:noFill/>
        </p:spPr>
        <p:txBody>
          <a:bodyPr wrap="square" anchor="t">
            <a:spAutoFit/>
          </a:bodyPr>
          <a:lstStyle/>
          <a:p>
            <a:pPr algn="r">
              <a:lnSpc>
                <a:spcPct val="115000"/>
              </a:lnSpc>
            </a:pPr>
            <a:r>
              <a:rPr sz="1200" b="1">
                <a:solidFill>
                  <a:srgbClr val="A8B0BB"/>
                </a:solidFill>
                <a:latin typeface="Segoe UI"/>
              </a:rPr>
              <a:t>1:00</a:t>
            </a:r>
          </a:p>
        </p:txBody>
      </p:sp>
      <p:sp>
        <p:nvSpPr>
          <p:cNvPr id="5" name="Oval 4"/>
          <p:cNvSpPr/>
          <p:nvPr/>
        </p:nvSpPr>
        <p:spPr>
          <a:xfrm>
            <a:off x="868680" y="2514600"/>
            <a:ext cx="384048" cy="384048"/>
          </a:xfrm>
          <a:prstGeom prst="ellipse">
            <a:avLst/>
          </a:prstGeom>
          <a:solidFill>
            <a:srgbClr val="EE6C1E"/>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300" b="1">
                <a:solidFill>
                  <a:srgbClr val="FFFFFF"/>
                </a:solidFill>
                <a:latin typeface="Segoe UI"/>
              </a:rPr>
              <a:t>1</a:t>
            </a:r>
          </a:p>
        </p:txBody>
      </p:sp>
      <p:sp>
        <p:nvSpPr>
          <p:cNvPr id="6" name="TextBox 5"/>
          <p:cNvSpPr txBox="1"/>
          <p:nvPr/>
        </p:nvSpPr>
        <p:spPr>
          <a:xfrm>
            <a:off x="1508760" y="2478024"/>
            <a:ext cx="9875520" cy="685800"/>
          </a:xfrm>
          <a:prstGeom prst="rect">
            <a:avLst/>
          </a:prstGeom>
          <a:noFill/>
        </p:spPr>
        <p:txBody>
          <a:bodyPr wrap="square" anchor="t">
            <a:spAutoFit/>
          </a:bodyPr>
          <a:lstStyle/>
          <a:p>
            <a:pPr algn="l">
              <a:lnSpc>
                <a:spcPct val="125000"/>
              </a:lnSpc>
            </a:pPr>
            <a:r>
              <a:rPr sz="2000" b="0">
                <a:solidFill>
                  <a:srgbClr val="FFFFFF"/>
                </a:solidFill>
                <a:latin typeface="Segoe UI"/>
              </a:rPr>
              <a:t>Qui décroche, dans quelle cohorte, et pourquoi.</a:t>
            </a:r>
          </a:p>
        </p:txBody>
      </p:sp>
      <p:sp>
        <p:nvSpPr>
          <p:cNvPr id="7" name="Oval 6"/>
          <p:cNvSpPr/>
          <p:nvPr/>
        </p:nvSpPr>
        <p:spPr>
          <a:xfrm>
            <a:off x="868680" y="3520440"/>
            <a:ext cx="384048" cy="384048"/>
          </a:xfrm>
          <a:prstGeom prst="ellipse">
            <a:avLst/>
          </a:prstGeom>
          <a:solidFill>
            <a:srgbClr val="EE6C1E"/>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300" b="1">
                <a:solidFill>
                  <a:srgbClr val="FFFFFF"/>
                </a:solidFill>
                <a:latin typeface="Segoe UI"/>
              </a:rPr>
              <a:t>2</a:t>
            </a:r>
          </a:p>
        </p:txBody>
      </p:sp>
      <p:sp>
        <p:nvSpPr>
          <p:cNvPr id="8" name="TextBox 7"/>
          <p:cNvSpPr txBox="1"/>
          <p:nvPr/>
        </p:nvSpPr>
        <p:spPr>
          <a:xfrm>
            <a:off x="1508760" y="3483864"/>
            <a:ext cx="9875520" cy="685800"/>
          </a:xfrm>
          <a:prstGeom prst="rect">
            <a:avLst/>
          </a:prstGeom>
          <a:noFill/>
        </p:spPr>
        <p:txBody>
          <a:bodyPr wrap="square" anchor="t">
            <a:spAutoFit/>
          </a:bodyPr>
          <a:lstStyle/>
          <a:p>
            <a:pPr algn="l">
              <a:lnSpc>
                <a:spcPct val="125000"/>
              </a:lnSpc>
            </a:pPr>
            <a:r>
              <a:rPr sz="2000" b="0">
                <a:solidFill>
                  <a:srgbClr val="FFFFFF"/>
                </a:solidFill>
                <a:latin typeface="Segoe UI"/>
              </a:rPr>
              <a:t>Un seul mail par mentor, jamais un par alerte.</a:t>
            </a:r>
          </a:p>
        </p:txBody>
      </p:sp>
      <p:sp>
        <p:nvSpPr>
          <p:cNvPr id="9" name="Oval 8"/>
          <p:cNvSpPr/>
          <p:nvPr/>
        </p:nvSpPr>
        <p:spPr>
          <a:xfrm>
            <a:off x="868680" y="4526280"/>
            <a:ext cx="384048" cy="384048"/>
          </a:xfrm>
          <a:prstGeom prst="ellipse">
            <a:avLst/>
          </a:prstGeom>
          <a:solidFill>
            <a:srgbClr val="EE6C1E"/>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300" b="1">
                <a:solidFill>
                  <a:srgbClr val="FFFFFF"/>
                </a:solidFill>
                <a:latin typeface="Segoe UI"/>
              </a:rPr>
              <a:t>3</a:t>
            </a:r>
          </a:p>
        </p:txBody>
      </p:sp>
      <p:sp>
        <p:nvSpPr>
          <p:cNvPr id="10" name="TextBox 9"/>
          <p:cNvSpPr txBox="1"/>
          <p:nvPr/>
        </p:nvSpPr>
        <p:spPr>
          <a:xfrm>
            <a:off x="1508760" y="4489704"/>
            <a:ext cx="9875520" cy="685800"/>
          </a:xfrm>
          <a:prstGeom prst="rect">
            <a:avLst/>
          </a:prstGeom>
          <a:noFill/>
        </p:spPr>
        <p:txBody>
          <a:bodyPr wrap="square" anchor="t">
            <a:spAutoFit/>
          </a:bodyPr>
          <a:lstStyle/>
          <a:p>
            <a:pPr algn="l">
              <a:lnSpc>
                <a:spcPct val="125000"/>
              </a:lnSpc>
            </a:pPr>
            <a:r>
              <a:rPr sz="2000" b="0">
                <a:solidFill>
                  <a:srgbClr val="FFFFFF"/>
                </a:solidFill>
                <a:latin typeface="Segoe UI"/>
              </a:rPr>
              <a:t>Aucun mail quand il n'y a rien à signaler.</a:t>
            </a:r>
          </a:p>
        </p:txBody>
      </p:sp>
      <p:sp>
        <p:nvSpPr>
          <p:cNvPr id="11" name="Rectangle 10"/>
          <p:cNvSpPr/>
          <p:nvPr/>
        </p:nvSpPr>
        <p:spPr>
          <a:xfrm>
            <a:off x="807720" y="5074920"/>
            <a:ext cx="10515600" cy="914400"/>
          </a:xfrm>
          <a:prstGeom prst="rect">
            <a:avLst/>
          </a:prstGeom>
          <a:solidFill>
            <a:srgbClr val="EE6C1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100" b="1" dirty="0">
                <a:solidFill>
                  <a:srgbClr val="FFFFFF"/>
                </a:solidFill>
                <a:latin typeface="Segoe UI"/>
              </a:rPr>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4181F"/>
        </a:solidFill>
        <a:effectLst/>
      </p:bgPr>
    </p:bg>
    <p:spTree>
      <p:nvGrpSpPr>
        <p:cNvPr id="1" name=""/>
        <p:cNvGrpSpPr/>
        <p:nvPr/>
      </p:nvGrpSpPr>
      <p:grpSpPr>
        <a:xfrm>
          <a:off x="0" y="0"/>
          <a:ext cx="0" cy="0"/>
          <a:chOff x="0" y="0"/>
          <a:chExt cx="0" cy="0"/>
        </a:xfrm>
      </p:grpSpPr>
      <p:sp>
        <p:nvSpPr>
          <p:cNvPr id="2" name="TextBox 1"/>
          <p:cNvSpPr txBox="1"/>
          <p:nvPr/>
        </p:nvSpPr>
        <p:spPr>
          <a:xfrm>
            <a:off x="822960" y="566928"/>
            <a:ext cx="7315200" cy="365760"/>
          </a:xfrm>
          <a:prstGeom prst="rect">
            <a:avLst/>
          </a:prstGeom>
          <a:noFill/>
        </p:spPr>
        <p:txBody>
          <a:bodyPr wrap="square" anchor="t">
            <a:spAutoFit/>
          </a:bodyPr>
          <a:lstStyle/>
          <a:p>
            <a:pPr algn="l">
              <a:lnSpc>
                <a:spcPct val="115000"/>
              </a:lnSpc>
            </a:pPr>
            <a:r>
              <a:rPr sz="1200" b="1">
                <a:solidFill>
                  <a:srgbClr val="EE6C1E"/>
                </a:solidFill>
                <a:latin typeface="Segoe UI"/>
              </a:rPr>
              <a:t>DÉMONSTRATION · 2</a:t>
            </a:r>
          </a:p>
        </p:txBody>
      </p:sp>
      <p:sp>
        <p:nvSpPr>
          <p:cNvPr id="3" name="TextBox 2"/>
          <p:cNvSpPr txBox="1"/>
          <p:nvPr/>
        </p:nvSpPr>
        <p:spPr>
          <a:xfrm>
            <a:off x="822960" y="1024128"/>
            <a:ext cx="9326880" cy="914400"/>
          </a:xfrm>
          <a:prstGeom prst="rect">
            <a:avLst/>
          </a:prstGeom>
          <a:noFill/>
        </p:spPr>
        <p:txBody>
          <a:bodyPr wrap="square" anchor="t">
            <a:spAutoFit/>
          </a:bodyPr>
          <a:lstStyle/>
          <a:p>
            <a:pPr algn="l">
              <a:lnSpc>
                <a:spcPct val="115000"/>
              </a:lnSpc>
            </a:pPr>
            <a:r>
              <a:rPr sz="4000" b="1">
                <a:solidFill>
                  <a:srgbClr val="FFFFFF"/>
                </a:solidFill>
                <a:latin typeface="Segoe UI"/>
              </a:rPr>
              <a:t>Le tableau de bord du mentor</a:t>
            </a:r>
          </a:p>
        </p:txBody>
      </p:sp>
      <p:sp>
        <p:nvSpPr>
          <p:cNvPr id="4" name="TextBox 3"/>
          <p:cNvSpPr txBox="1"/>
          <p:nvPr/>
        </p:nvSpPr>
        <p:spPr>
          <a:xfrm>
            <a:off x="9966960" y="566928"/>
            <a:ext cx="1463040" cy="365760"/>
          </a:xfrm>
          <a:prstGeom prst="rect">
            <a:avLst/>
          </a:prstGeom>
          <a:noFill/>
        </p:spPr>
        <p:txBody>
          <a:bodyPr wrap="square" anchor="t">
            <a:spAutoFit/>
          </a:bodyPr>
          <a:lstStyle/>
          <a:p>
            <a:pPr algn="r">
              <a:lnSpc>
                <a:spcPct val="115000"/>
              </a:lnSpc>
            </a:pPr>
            <a:r>
              <a:rPr sz="1200" b="1">
                <a:solidFill>
                  <a:srgbClr val="A8B0BB"/>
                </a:solidFill>
                <a:latin typeface="Segoe UI"/>
              </a:rPr>
              <a:t>1:45</a:t>
            </a:r>
          </a:p>
        </p:txBody>
      </p:sp>
      <p:sp>
        <p:nvSpPr>
          <p:cNvPr id="5" name="Oval 4"/>
          <p:cNvSpPr/>
          <p:nvPr/>
        </p:nvSpPr>
        <p:spPr>
          <a:xfrm>
            <a:off x="868680" y="2377440"/>
            <a:ext cx="384048" cy="384048"/>
          </a:xfrm>
          <a:prstGeom prst="ellipse">
            <a:avLst/>
          </a:prstGeom>
          <a:solidFill>
            <a:srgbClr val="EE6C1E"/>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300" b="1">
                <a:solidFill>
                  <a:srgbClr val="FFFFFF"/>
                </a:solidFill>
                <a:latin typeface="Segoe UI"/>
              </a:rPr>
              <a:t>1</a:t>
            </a:r>
          </a:p>
        </p:txBody>
      </p:sp>
      <p:sp>
        <p:nvSpPr>
          <p:cNvPr id="6" name="TextBox 5"/>
          <p:cNvSpPr txBox="1"/>
          <p:nvPr/>
        </p:nvSpPr>
        <p:spPr>
          <a:xfrm>
            <a:off x="1508760" y="2340864"/>
            <a:ext cx="9875520" cy="685800"/>
          </a:xfrm>
          <a:prstGeom prst="rect">
            <a:avLst/>
          </a:prstGeom>
          <a:noFill/>
        </p:spPr>
        <p:txBody>
          <a:bodyPr wrap="square" anchor="t">
            <a:spAutoFit/>
          </a:bodyPr>
          <a:lstStyle/>
          <a:p>
            <a:pPr algn="l">
              <a:lnSpc>
                <a:spcPct val="125000"/>
              </a:lnSpc>
            </a:pPr>
            <a:r>
              <a:rPr sz="2000" b="0">
                <a:solidFill>
                  <a:srgbClr val="FFFFFF"/>
                </a:solidFill>
                <a:latin typeface="Segoe UI"/>
              </a:rPr>
              <a:t>La liste — qui relancer en priorité, dans ses cohortes.</a:t>
            </a:r>
          </a:p>
        </p:txBody>
      </p:sp>
      <p:sp>
        <p:nvSpPr>
          <p:cNvPr id="7" name="Oval 6"/>
          <p:cNvSpPr/>
          <p:nvPr/>
        </p:nvSpPr>
        <p:spPr>
          <a:xfrm>
            <a:off x="868680" y="3246120"/>
            <a:ext cx="384048" cy="384048"/>
          </a:xfrm>
          <a:prstGeom prst="ellipse">
            <a:avLst/>
          </a:prstGeom>
          <a:solidFill>
            <a:srgbClr val="EE6C1E"/>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300" b="1">
                <a:solidFill>
                  <a:srgbClr val="FFFFFF"/>
                </a:solidFill>
                <a:latin typeface="Segoe UI"/>
              </a:rPr>
              <a:t>2</a:t>
            </a:r>
          </a:p>
        </p:txBody>
      </p:sp>
      <p:sp>
        <p:nvSpPr>
          <p:cNvPr id="8" name="TextBox 7"/>
          <p:cNvSpPr txBox="1"/>
          <p:nvPr/>
        </p:nvSpPr>
        <p:spPr>
          <a:xfrm>
            <a:off x="1508760" y="3209544"/>
            <a:ext cx="9875520" cy="685800"/>
          </a:xfrm>
          <a:prstGeom prst="rect">
            <a:avLst/>
          </a:prstGeom>
          <a:noFill/>
        </p:spPr>
        <p:txBody>
          <a:bodyPr wrap="square" anchor="t">
            <a:spAutoFit/>
          </a:bodyPr>
          <a:lstStyle/>
          <a:p>
            <a:pPr algn="l">
              <a:lnSpc>
                <a:spcPct val="125000"/>
              </a:lnSpc>
            </a:pPr>
            <a:r>
              <a:rPr sz="2000" b="0">
                <a:solidFill>
                  <a:srgbClr val="FFFFFF"/>
                </a:solidFill>
                <a:latin typeface="Segoe UI"/>
              </a:rPr>
              <a:t>La fiche — pourquoi il est signalé, et comment ça évolue.</a:t>
            </a:r>
          </a:p>
        </p:txBody>
      </p:sp>
      <p:sp>
        <p:nvSpPr>
          <p:cNvPr id="9" name="Oval 8"/>
          <p:cNvSpPr/>
          <p:nvPr/>
        </p:nvSpPr>
        <p:spPr>
          <a:xfrm>
            <a:off x="868680" y="4114800"/>
            <a:ext cx="384048" cy="384048"/>
          </a:xfrm>
          <a:prstGeom prst="ellipse">
            <a:avLst/>
          </a:prstGeom>
          <a:solidFill>
            <a:srgbClr val="EE6C1E"/>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300" b="1">
                <a:solidFill>
                  <a:srgbClr val="FFFFFF"/>
                </a:solidFill>
                <a:latin typeface="Segoe UI"/>
              </a:rPr>
              <a:t>3</a:t>
            </a:r>
          </a:p>
        </p:txBody>
      </p:sp>
      <p:sp>
        <p:nvSpPr>
          <p:cNvPr id="10" name="TextBox 9"/>
          <p:cNvSpPr txBox="1"/>
          <p:nvPr/>
        </p:nvSpPr>
        <p:spPr>
          <a:xfrm>
            <a:off x="1508760" y="4078224"/>
            <a:ext cx="9875520" cy="685800"/>
          </a:xfrm>
          <a:prstGeom prst="rect">
            <a:avLst/>
          </a:prstGeom>
          <a:noFill/>
        </p:spPr>
        <p:txBody>
          <a:bodyPr wrap="square" anchor="t">
            <a:spAutoFit/>
          </a:bodyPr>
          <a:lstStyle/>
          <a:p>
            <a:pPr algn="l">
              <a:lnSpc>
                <a:spcPct val="125000"/>
              </a:lnSpc>
            </a:pPr>
            <a:r>
              <a:rPr sz="2000" b="0">
                <a:solidFill>
                  <a:srgbClr val="FFFFFF"/>
                </a:solidFill>
                <a:latin typeface="Segoe UI"/>
              </a:rPr>
              <a:t>L'intervention — j'enregistre mon appel en direct.</a:t>
            </a:r>
          </a:p>
        </p:txBody>
      </p:sp>
      <p:sp>
        <p:nvSpPr>
          <p:cNvPr id="11" name="Oval 10"/>
          <p:cNvSpPr/>
          <p:nvPr/>
        </p:nvSpPr>
        <p:spPr>
          <a:xfrm>
            <a:off x="868680" y="4983480"/>
            <a:ext cx="384048" cy="384048"/>
          </a:xfrm>
          <a:prstGeom prst="ellipse">
            <a:avLst/>
          </a:prstGeom>
          <a:solidFill>
            <a:srgbClr val="EE6C1E"/>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300" b="1">
                <a:solidFill>
                  <a:srgbClr val="FFFFFF"/>
                </a:solidFill>
                <a:latin typeface="Segoe UI"/>
              </a:rPr>
              <a:t>4</a:t>
            </a:r>
          </a:p>
        </p:txBody>
      </p:sp>
      <p:sp>
        <p:nvSpPr>
          <p:cNvPr id="12" name="TextBox 11"/>
          <p:cNvSpPr txBox="1"/>
          <p:nvPr/>
        </p:nvSpPr>
        <p:spPr>
          <a:xfrm>
            <a:off x="1508760" y="4946904"/>
            <a:ext cx="9875520" cy="685800"/>
          </a:xfrm>
          <a:prstGeom prst="rect">
            <a:avLst/>
          </a:prstGeom>
          <a:noFill/>
        </p:spPr>
        <p:txBody>
          <a:bodyPr wrap="square" anchor="t">
            <a:spAutoFit/>
          </a:bodyPr>
          <a:lstStyle/>
          <a:p>
            <a:pPr algn="l">
              <a:lnSpc>
                <a:spcPct val="125000"/>
              </a:lnSpc>
            </a:pPr>
            <a:r>
              <a:rPr sz="2000" b="0">
                <a:solidFill>
                  <a:srgbClr val="FFFFFF"/>
                </a:solidFill>
                <a:latin typeface="Segoe UI"/>
              </a:rPr>
              <a:t>Le retour — l'alerte s'est refermée toute seule.</a:t>
            </a:r>
          </a:p>
        </p:txBody>
      </p:sp>
      <p:sp>
        <p:nvSpPr>
          <p:cNvPr id="13" name="Rectangle 12"/>
          <p:cNvSpPr/>
          <p:nvPr/>
        </p:nvSpPr>
        <p:spPr>
          <a:xfrm>
            <a:off x="822960" y="5074920"/>
            <a:ext cx="10515600" cy="914400"/>
          </a:xfrm>
          <a:prstGeom prst="rect">
            <a:avLst/>
          </a:prstGeom>
          <a:solidFill>
            <a:srgbClr val="EE6C1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100" b="1" dirty="0">
                <a:solidFill>
                  <a:srgbClr val="FFFFFF"/>
                </a:solidFill>
                <a:latin typeface="Segoe UI"/>
              </a:rPr>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BFAF7"/>
        </a:solidFill>
        <a:effectLst/>
      </p:bgPr>
    </p:bg>
    <p:spTree>
      <p:nvGrpSpPr>
        <p:cNvPr id="1" name=""/>
        <p:cNvGrpSpPr/>
        <p:nvPr/>
      </p:nvGrpSpPr>
      <p:grpSpPr>
        <a:xfrm>
          <a:off x="0" y="0"/>
          <a:ext cx="0" cy="0"/>
          <a:chOff x="0" y="0"/>
          <a:chExt cx="0" cy="0"/>
        </a:xfrm>
      </p:grpSpPr>
      <p:sp>
        <p:nvSpPr>
          <p:cNvPr id="2" name="TextBox 1"/>
          <p:cNvSpPr txBox="1"/>
          <p:nvPr/>
        </p:nvSpPr>
        <p:spPr>
          <a:xfrm>
            <a:off x="822960" y="566928"/>
            <a:ext cx="7315200" cy="365760"/>
          </a:xfrm>
          <a:prstGeom prst="rect">
            <a:avLst/>
          </a:prstGeom>
          <a:noFill/>
        </p:spPr>
        <p:txBody>
          <a:bodyPr wrap="square" anchor="t">
            <a:spAutoFit/>
          </a:bodyPr>
          <a:lstStyle/>
          <a:p>
            <a:pPr algn="l">
              <a:lnSpc>
                <a:spcPct val="115000"/>
              </a:lnSpc>
            </a:pPr>
            <a:r>
              <a:rPr sz="1200" b="1">
                <a:solidFill>
                  <a:srgbClr val="EE6C1E"/>
                </a:solidFill>
                <a:latin typeface="Segoe UI"/>
              </a:rPr>
              <a:t>COMMENT C'EST CONSTRUIT</a:t>
            </a:r>
          </a:p>
        </p:txBody>
      </p:sp>
      <p:sp>
        <p:nvSpPr>
          <p:cNvPr id="3" name="TextBox 2"/>
          <p:cNvSpPr txBox="1"/>
          <p:nvPr/>
        </p:nvSpPr>
        <p:spPr>
          <a:xfrm>
            <a:off x="822960" y="1024128"/>
            <a:ext cx="9326880" cy="914400"/>
          </a:xfrm>
          <a:prstGeom prst="rect">
            <a:avLst/>
          </a:prstGeom>
          <a:noFill/>
        </p:spPr>
        <p:txBody>
          <a:bodyPr wrap="square" anchor="t">
            <a:spAutoFit/>
          </a:bodyPr>
          <a:lstStyle/>
          <a:p>
            <a:pPr algn="l">
              <a:lnSpc>
                <a:spcPct val="115000"/>
              </a:lnSpc>
            </a:pPr>
            <a:r>
              <a:rPr sz="4000" b="1">
                <a:solidFill>
                  <a:srgbClr val="14181F"/>
                </a:solidFill>
                <a:latin typeface="Segoe UI"/>
              </a:rPr>
              <a:t>Une stack standard, reprenable.</a:t>
            </a:r>
          </a:p>
        </p:txBody>
      </p:sp>
      <p:sp>
        <p:nvSpPr>
          <p:cNvPr id="4" name="TextBox 3"/>
          <p:cNvSpPr txBox="1"/>
          <p:nvPr/>
        </p:nvSpPr>
        <p:spPr>
          <a:xfrm>
            <a:off x="9966960" y="566928"/>
            <a:ext cx="1463040" cy="365760"/>
          </a:xfrm>
          <a:prstGeom prst="rect">
            <a:avLst/>
          </a:prstGeom>
          <a:noFill/>
        </p:spPr>
        <p:txBody>
          <a:bodyPr wrap="square" anchor="t">
            <a:spAutoFit/>
          </a:bodyPr>
          <a:lstStyle/>
          <a:p>
            <a:pPr algn="r">
              <a:lnSpc>
                <a:spcPct val="115000"/>
              </a:lnSpc>
            </a:pPr>
            <a:r>
              <a:rPr sz="1200" b="1">
                <a:solidFill>
                  <a:srgbClr val="6B7482"/>
                </a:solidFill>
                <a:latin typeface="Segoe UI"/>
              </a:rPr>
              <a:t>3:30</a:t>
            </a:r>
          </a:p>
        </p:txBody>
      </p:sp>
      <p:sp>
        <p:nvSpPr>
          <p:cNvPr id="5" name="Rounded Rectangle 4"/>
          <p:cNvSpPr/>
          <p:nvPr/>
        </p:nvSpPr>
        <p:spPr>
          <a:xfrm>
            <a:off x="822960" y="2377440"/>
            <a:ext cx="3291840" cy="1600200"/>
          </a:xfrm>
          <a:prstGeom prst="roundRect">
            <a:avLst>
              <a:gd name="adj" fmla="val 6000"/>
            </a:avLst>
          </a:prstGeom>
          <a:solidFill>
            <a:srgbClr val="FFFFFF"/>
          </a:solidFill>
          <a:ln w="12700">
            <a:solidFill>
              <a:srgbClr val="E2DE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22960" y="2377440"/>
            <a:ext cx="54864" cy="1600200"/>
          </a:xfrm>
          <a:prstGeom prst="rect">
            <a:avLst/>
          </a:prstGeom>
          <a:solidFill>
            <a:srgbClr val="EE6C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15568" y="2560320"/>
            <a:ext cx="2834640" cy="320040"/>
          </a:xfrm>
          <a:prstGeom prst="rect">
            <a:avLst/>
          </a:prstGeom>
          <a:noFill/>
        </p:spPr>
        <p:txBody>
          <a:bodyPr wrap="square" anchor="t">
            <a:spAutoFit/>
          </a:bodyPr>
          <a:lstStyle/>
          <a:p>
            <a:pPr algn="l">
              <a:lnSpc>
                <a:spcPct val="115000"/>
              </a:lnSpc>
            </a:pPr>
            <a:r>
              <a:rPr sz="1000" b="1">
                <a:solidFill>
                  <a:srgbClr val="6B7482"/>
                </a:solidFill>
                <a:latin typeface="Segoe UI"/>
              </a:rPr>
              <a:t>MOTEUR</a:t>
            </a:r>
          </a:p>
        </p:txBody>
      </p:sp>
      <p:sp>
        <p:nvSpPr>
          <p:cNvPr id="8" name="TextBox 7"/>
          <p:cNvSpPr txBox="1"/>
          <p:nvPr/>
        </p:nvSpPr>
        <p:spPr>
          <a:xfrm>
            <a:off x="1115568" y="2871216"/>
            <a:ext cx="2926080" cy="457200"/>
          </a:xfrm>
          <a:prstGeom prst="rect">
            <a:avLst/>
          </a:prstGeom>
          <a:noFill/>
        </p:spPr>
        <p:txBody>
          <a:bodyPr wrap="square" anchor="t">
            <a:spAutoFit/>
          </a:bodyPr>
          <a:lstStyle/>
          <a:p>
            <a:pPr algn="l">
              <a:lnSpc>
                <a:spcPct val="115000"/>
              </a:lnSpc>
            </a:pPr>
            <a:r>
              <a:rPr sz="2200" b="1">
                <a:solidFill>
                  <a:srgbClr val="14181F"/>
                </a:solidFill>
                <a:latin typeface="Segoe UI"/>
              </a:rPr>
              <a:t>Python · FastAPI</a:t>
            </a:r>
          </a:p>
        </p:txBody>
      </p:sp>
      <p:sp>
        <p:nvSpPr>
          <p:cNvPr id="9" name="TextBox 8"/>
          <p:cNvSpPr txBox="1"/>
          <p:nvPr/>
        </p:nvSpPr>
        <p:spPr>
          <a:xfrm>
            <a:off x="1115568" y="3401568"/>
            <a:ext cx="2926080" cy="548640"/>
          </a:xfrm>
          <a:prstGeom prst="rect">
            <a:avLst/>
          </a:prstGeom>
          <a:noFill/>
        </p:spPr>
        <p:txBody>
          <a:bodyPr wrap="square" anchor="t">
            <a:spAutoFit/>
          </a:bodyPr>
          <a:lstStyle/>
          <a:p>
            <a:pPr algn="l">
              <a:lnSpc>
                <a:spcPct val="120000"/>
              </a:lnSpc>
            </a:pPr>
            <a:r>
              <a:rPr sz="1200" b="0">
                <a:solidFill>
                  <a:srgbClr val="6B7482"/>
                </a:solidFill>
                <a:latin typeface="Segoe UI"/>
              </a:rPr>
              <a:t>Le calcul du risque et l'API.</a:t>
            </a:r>
          </a:p>
        </p:txBody>
      </p:sp>
      <p:sp>
        <p:nvSpPr>
          <p:cNvPr id="10" name="Rounded Rectangle 9"/>
          <p:cNvSpPr/>
          <p:nvPr/>
        </p:nvSpPr>
        <p:spPr>
          <a:xfrm>
            <a:off x="4434840" y="2377440"/>
            <a:ext cx="3291840" cy="1600200"/>
          </a:xfrm>
          <a:prstGeom prst="roundRect">
            <a:avLst>
              <a:gd name="adj" fmla="val 6000"/>
            </a:avLst>
          </a:prstGeom>
          <a:solidFill>
            <a:srgbClr val="FFFFFF"/>
          </a:solidFill>
          <a:ln w="12700">
            <a:solidFill>
              <a:srgbClr val="E2DE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434840" y="2377440"/>
            <a:ext cx="54864" cy="1600200"/>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727448" y="2560320"/>
            <a:ext cx="2834640" cy="320040"/>
          </a:xfrm>
          <a:prstGeom prst="rect">
            <a:avLst/>
          </a:prstGeom>
          <a:noFill/>
        </p:spPr>
        <p:txBody>
          <a:bodyPr wrap="square" anchor="t">
            <a:spAutoFit/>
          </a:bodyPr>
          <a:lstStyle/>
          <a:p>
            <a:pPr algn="l">
              <a:lnSpc>
                <a:spcPct val="115000"/>
              </a:lnSpc>
            </a:pPr>
            <a:r>
              <a:rPr sz="1000" b="1">
                <a:solidFill>
                  <a:srgbClr val="6B7482"/>
                </a:solidFill>
                <a:latin typeface="Segoe UI"/>
              </a:rPr>
              <a:t>INTERFACE</a:t>
            </a:r>
          </a:p>
        </p:txBody>
      </p:sp>
      <p:sp>
        <p:nvSpPr>
          <p:cNvPr id="13" name="TextBox 12"/>
          <p:cNvSpPr txBox="1"/>
          <p:nvPr/>
        </p:nvSpPr>
        <p:spPr>
          <a:xfrm>
            <a:off x="4727448" y="2871216"/>
            <a:ext cx="2926080" cy="457200"/>
          </a:xfrm>
          <a:prstGeom prst="rect">
            <a:avLst/>
          </a:prstGeom>
          <a:noFill/>
        </p:spPr>
        <p:txBody>
          <a:bodyPr wrap="square" anchor="t">
            <a:spAutoFit/>
          </a:bodyPr>
          <a:lstStyle/>
          <a:p>
            <a:pPr algn="l">
              <a:lnSpc>
                <a:spcPct val="115000"/>
              </a:lnSpc>
            </a:pPr>
            <a:r>
              <a:rPr sz="2200" b="1">
                <a:solidFill>
                  <a:srgbClr val="14181F"/>
                </a:solidFill>
                <a:latin typeface="Segoe UI"/>
              </a:rPr>
              <a:t>React</a:t>
            </a:r>
          </a:p>
        </p:txBody>
      </p:sp>
      <p:sp>
        <p:nvSpPr>
          <p:cNvPr id="14" name="TextBox 13"/>
          <p:cNvSpPr txBox="1"/>
          <p:nvPr/>
        </p:nvSpPr>
        <p:spPr>
          <a:xfrm>
            <a:off x="4727448" y="3401568"/>
            <a:ext cx="2926080" cy="548640"/>
          </a:xfrm>
          <a:prstGeom prst="rect">
            <a:avLst/>
          </a:prstGeom>
          <a:noFill/>
        </p:spPr>
        <p:txBody>
          <a:bodyPr wrap="square" anchor="t">
            <a:spAutoFit/>
          </a:bodyPr>
          <a:lstStyle/>
          <a:p>
            <a:pPr algn="l">
              <a:lnSpc>
                <a:spcPct val="120000"/>
              </a:lnSpc>
            </a:pPr>
            <a:r>
              <a:rPr sz="1200" b="0">
                <a:solidFill>
                  <a:srgbClr val="6B7482"/>
                </a:solidFill>
                <a:latin typeface="Segoe UI"/>
              </a:rPr>
              <a:t>Ce que le mentor voit et manipule.</a:t>
            </a:r>
          </a:p>
        </p:txBody>
      </p:sp>
      <p:sp>
        <p:nvSpPr>
          <p:cNvPr id="15" name="Rounded Rectangle 14"/>
          <p:cNvSpPr/>
          <p:nvPr/>
        </p:nvSpPr>
        <p:spPr>
          <a:xfrm>
            <a:off x="8046720" y="2377440"/>
            <a:ext cx="3291840" cy="1600200"/>
          </a:xfrm>
          <a:prstGeom prst="roundRect">
            <a:avLst>
              <a:gd name="adj" fmla="val 6000"/>
            </a:avLst>
          </a:prstGeom>
          <a:solidFill>
            <a:srgbClr val="FFFFFF"/>
          </a:solidFill>
          <a:ln w="12700">
            <a:solidFill>
              <a:srgbClr val="E2DE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046720" y="2377440"/>
            <a:ext cx="54864" cy="1600200"/>
          </a:xfrm>
          <a:prstGeom prst="rect">
            <a:avLst/>
          </a:prstGeom>
          <a:solidFill>
            <a:srgbClr val="C43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339328" y="2560320"/>
            <a:ext cx="2834640" cy="320040"/>
          </a:xfrm>
          <a:prstGeom prst="rect">
            <a:avLst/>
          </a:prstGeom>
          <a:noFill/>
        </p:spPr>
        <p:txBody>
          <a:bodyPr wrap="square" anchor="t">
            <a:spAutoFit/>
          </a:bodyPr>
          <a:lstStyle/>
          <a:p>
            <a:pPr algn="l">
              <a:lnSpc>
                <a:spcPct val="115000"/>
              </a:lnSpc>
            </a:pPr>
            <a:r>
              <a:rPr sz="1000" b="1">
                <a:solidFill>
                  <a:srgbClr val="6B7482"/>
                </a:solidFill>
                <a:latin typeface="Segoe UI"/>
              </a:rPr>
              <a:t>DONNÉES</a:t>
            </a:r>
          </a:p>
        </p:txBody>
      </p:sp>
      <p:sp>
        <p:nvSpPr>
          <p:cNvPr id="18" name="TextBox 17"/>
          <p:cNvSpPr txBox="1"/>
          <p:nvPr/>
        </p:nvSpPr>
        <p:spPr>
          <a:xfrm>
            <a:off x="8339328" y="2871216"/>
            <a:ext cx="2926080" cy="457200"/>
          </a:xfrm>
          <a:prstGeom prst="rect">
            <a:avLst/>
          </a:prstGeom>
          <a:noFill/>
        </p:spPr>
        <p:txBody>
          <a:bodyPr wrap="square" anchor="t">
            <a:spAutoFit/>
          </a:bodyPr>
          <a:lstStyle/>
          <a:p>
            <a:pPr algn="l">
              <a:lnSpc>
                <a:spcPct val="115000"/>
              </a:lnSpc>
            </a:pPr>
            <a:r>
              <a:rPr sz="2200" b="1">
                <a:solidFill>
                  <a:srgbClr val="14181F"/>
                </a:solidFill>
                <a:latin typeface="Segoe UI"/>
              </a:rPr>
              <a:t>PostgreSQL</a:t>
            </a:r>
          </a:p>
        </p:txBody>
      </p:sp>
      <p:sp>
        <p:nvSpPr>
          <p:cNvPr id="19" name="TextBox 18"/>
          <p:cNvSpPr txBox="1"/>
          <p:nvPr/>
        </p:nvSpPr>
        <p:spPr>
          <a:xfrm>
            <a:off x="8339328" y="3401568"/>
            <a:ext cx="2926080" cy="548640"/>
          </a:xfrm>
          <a:prstGeom prst="rect">
            <a:avLst/>
          </a:prstGeom>
          <a:noFill/>
        </p:spPr>
        <p:txBody>
          <a:bodyPr wrap="square" anchor="t">
            <a:spAutoFit/>
          </a:bodyPr>
          <a:lstStyle/>
          <a:p>
            <a:pPr algn="l">
              <a:lnSpc>
                <a:spcPct val="120000"/>
              </a:lnSpc>
            </a:pPr>
            <a:r>
              <a:rPr sz="1200" b="0">
                <a:solidFill>
                  <a:srgbClr val="6B7482"/>
                </a:solidFill>
                <a:latin typeface="Segoe UI"/>
              </a:rPr>
              <a:t>Apprenants, interventions, alertes.</a:t>
            </a:r>
          </a:p>
        </p:txBody>
      </p:sp>
      <p:sp>
        <p:nvSpPr>
          <p:cNvPr id="20" name="Rounded Rectangle 19"/>
          <p:cNvSpPr/>
          <p:nvPr/>
        </p:nvSpPr>
        <p:spPr>
          <a:xfrm>
            <a:off x="822960" y="4206240"/>
            <a:ext cx="3291840" cy="1600200"/>
          </a:xfrm>
          <a:prstGeom prst="roundRect">
            <a:avLst>
              <a:gd name="adj" fmla="val 6000"/>
            </a:avLst>
          </a:prstGeom>
          <a:solidFill>
            <a:srgbClr val="FFFFFF"/>
          </a:solidFill>
          <a:ln w="12700">
            <a:solidFill>
              <a:srgbClr val="E2DE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822960" y="4206240"/>
            <a:ext cx="54864" cy="1600200"/>
          </a:xfrm>
          <a:prstGeom prst="rect">
            <a:avLst/>
          </a:prstGeom>
          <a:solidFill>
            <a:srgbClr val="EE6C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115568" y="4389120"/>
            <a:ext cx="2834640" cy="320040"/>
          </a:xfrm>
          <a:prstGeom prst="rect">
            <a:avLst/>
          </a:prstGeom>
          <a:noFill/>
        </p:spPr>
        <p:txBody>
          <a:bodyPr wrap="square" anchor="t">
            <a:spAutoFit/>
          </a:bodyPr>
          <a:lstStyle/>
          <a:p>
            <a:pPr algn="l">
              <a:lnSpc>
                <a:spcPct val="115000"/>
              </a:lnSpc>
            </a:pPr>
            <a:r>
              <a:rPr sz="1000" b="1">
                <a:solidFill>
                  <a:srgbClr val="6B7482"/>
                </a:solidFill>
                <a:latin typeface="Segoe UI"/>
              </a:rPr>
              <a:t>HÉBERGEMENT</a:t>
            </a:r>
          </a:p>
        </p:txBody>
      </p:sp>
      <p:sp>
        <p:nvSpPr>
          <p:cNvPr id="23" name="TextBox 22"/>
          <p:cNvSpPr txBox="1"/>
          <p:nvPr/>
        </p:nvSpPr>
        <p:spPr>
          <a:xfrm>
            <a:off x="1115568" y="4700016"/>
            <a:ext cx="2926080" cy="457200"/>
          </a:xfrm>
          <a:prstGeom prst="rect">
            <a:avLst/>
          </a:prstGeom>
          <a:noFill/>
        </p:spPr>
        <p:txBody>
          <a:bodyPr wrap="square" anchor="t">
            <a:spAutoFit/>
          </a:bodyPr>
          <a:lstStyle/>
          <a:p>
            <a:pPr algn="l">
              <a:lnSpc>
                <a:spcPct val="115000"/>
              </a:lnSpc>
            </a:pPr>
            <a:r>
              <a:rPr sz="2200" b="1">
                <a:solidFill>
                  <a:srgbClr val="14181F"/>
                </a:solidFill>
                <a:latin typeface="Segoe UI"/>
              </a:rPr>
              <a:t>Render</a:t>
            </a:r>
          </a:p>
        </p:txBody>
      </p:sp>
      <p:sp>
        <p:nvSpPr>
          <p:cNvPr id="24" name="TextBox 23"/>
          <p:cNvSpPr txBox="1"/>
          <p:nvPr/>
        </p:nvSpPr>
        <p:spPr>
          <a:xfrm>
            <a:off x="1115568" y="5230368"/>
            <a:ext cx="2926080" cy="548640"/>
          </a:xfrm>
          <a:prstGeom prst="rect">
            <a:avLst/>
          </a:prstGeom>
          <a:noFill/>
        </p:spPr>
        <p:txBody>
          <a:bodyPr wrap="square" anchor="t">
            <a:spAutoFit/>
          </a:bodyPr>
          <a:lstStyle/>
          <a:p>
            <a:pPr algn="l">
              <a:lnSpc>
                <a:spcPct val="120000"/>
              </a:lnSpc>
            </a:pPr>
            <a:r>
              <a:rPr sz="1200" b="0">
                <a:solidFill>
                  <a:srgbClr val="6B7482"/>
                </a:solidFill>
                <a:latin typeface="Segoe UI"/>
              </a:rPr>
              <a:t>Le site, l'API et la base, en ligne.</a:t>
            </a:r>
          </a:p>
        </p:txBody>
      </p:sp>
      <p:sp>
        <p:nvSpPr>
          <p:cNvPr id="25" name="Rounded Rectangle 24"/>
          <p:cNvSpPr/>
          <p:nvPr/>
        </p:nvSpPr>
        <p:spPr>
          <a:xfrm>
            <a:off x="4434840" y="4206240"/>
            <a:ext cx="3291840" cy="1600200"/>
          </a:xfrm>
          <a:prstGeom prst="roundRect">
            <a:avLst>
              <a:gd name="adj" fmla="val 6000"/>
            </a:avLst>
          </a:prstGeom>
          <a:solidFill>
            <a:srgbClr val="FFFFFF"/>
          </a:solidFill>
          <a:ln w="12700">
            <a:solidFill>
              <a:srgbClr val="E2DE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4434840" y="4206240"/>
            <a:ext cx="54864" cy="1600200"/>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727448" y="4389120"/>
            <a:ext cx="2834640" cy="320040"/>
          </a:xfrm>
          <a:prstGeom prst="rect">
            <a:avLst/>
          </a:prstGeom>
          <a:noFill/>
        </p:spPr>
        <p:txBody>
          <a:bodyPr wrap="square" anchor="t">
            <a:spAutoFit/>
          </a:bodyPr>
          <a:lstStyle/>
          <a:p>
            <a:pPr algn="l">
              <a:lnSpc>
                <a:spcPct val="115000"/>
              </a:lnSpc>
            </a:pPr>
            <a:r>
              <a:rPr sz="1000" b="1">
                <a:solidFill>
                  <a:srgbClr val="6B7482"/>
                </a:solidFill>
                <a:latin typeface="Segoe UI"/>
              </a:rPr>
              <a:t>NOTIFICATION</a:t>
            </a:r>
          </a:p>
        </p:txBody>
      </p:sp>
      <p:sp>
        <p:nvSpPr>
          <p:cNvPr id="28" name="TextBox 27"/>
          <p:cNvSpPr txBox="1"/>
          <p:nvPr/>
        </p:nvSpPr>
        <p:spPr>
          <a:xfrm>
            <a:off x="4727448" y="4700016"/>
            <a:ext cx="2926080" cy="457200"/>
          </a:xfrm>
          <a:prstGeom prst="rect">
            <a:avLst/>
          </a:prstGeom>
          <a:noFill/>
        </p:spPr>
        <p:txBody>
          <a:bodyPr wrap="square" anchor="t">
            <a:spAutoFit/>
          </a:bodyPr>
          <a:lstStyle/>
          <a:p>
            <a:pPr algn="l">
              <a:lnSpc>
                <a:spcPct val="115000"/>
              </a:lnSpc>
            </a:pPr>
            <a:r>
              <a:rPr sz="2200" b="1">
                <a:solidFill>
                  <a:srgbClr val="14181F"/>
                </a:solidFill>
                <a:latin typeface="Segoe UI"/>
              </a:rPr>
              <a:t>Make · Gmail</a:t>
            </a:r>
          </a:p>
        </p:txBody>
      </p:sp>
      <p:sp>
        <p:nvSpPr>
          <p:cNvPr id="29" name="TextBox 28"/>
          <p:cNvSpPr txBox="1"/>
          <p:nvPr/>
        </p:nvSpPr>
        <p:spPr>
          <a:xfrm>
            <a:off x="4727448" y="5230368"/>
            <a:ext cx="2926080" cy="548640"/>
          </a:xfrm>
          <a:prstGeom prst="rect">
            <a:avLst/>
          </a:prstGeom>
          <a:noFill/>
        </p:spPr>
        <p:txBody>
          <a:bodyPr wrap="square" anchor="t">
            <a:spAutoFit/>
          </a:bodyPr>
          <a:lstStyle/>
          <a:p>
            <a:pPr algn="l">
              <a:lnSpc>
                <a:spcPct val="120000"/>
              </a:lnSpc>
            </a:pPr>
            <a:r>
              <a:rPr sz="1200" b="0">
                <a:solidFill>
                  <a:srgbClr val="6B7482"/>
                </a:solidFill>
                <a:latin typeface="Segoe UI"/>
              </a:rPr>
              <a:t>Le scan de 7 h et l'envoi du mail.</a:t>
            </a:r>
          </a:p>
        </p:txBody>
      </p:sp>
      <p:sp>
        <p:nvSpPr>
          <p:cNvPr id="30" name="Rounded Rectangle 29"/>
          <p:cNvSpPr/>
          <p:nvPr/>
        </p:nvSpPr>
        <p:spPr>
          <a:xfrm>
            <a:off x="8046720" y="4206240"/>
            <a:ext cx="3291840" cy="1600200"/>
          </a:xfrm>
          <a:prstGeom prst="roundRect">
            <a:avLst>
              <a:gd name="adj" fmla="val 6000"/>
            </a:avLst>
          </a:prstGeom>
          <a:solidFill>
            <a:srgbClr val="FFFFFF"/>
          </a:solidFill>
          <a:ln w="12700">
            <a:solidFill>
              <a:srgbClr val="E2DE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8046720" y="4206240"/>
            <a:ext cx="54864" cy="1600200"/>
          </a:xfrm>
          <a:prstGeom prst="rect">
            <a:avLst/>
          </a:prstGeom>
          <a:solidFill>
            <a:srgbClr val="C43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339328" y="4389120"/>
            <a:ext cx="2834640" cy="320040"/>
          </a:xfrm>
          <a:prstGeom prst="rect">
            <a:avLst/>
          </a:prstGeom>
          <a:noFill/>
        </p:spPr>
        <p:txBody>
          <a:bodyPr wrap="square" anchor="t">
            <a:spAutoFit/>
          </a:bodyPr>
          <a:lstStyle/>
          <a:p>
            <a:pPr algn="l">
              <a:lnSpc>
                <a:spcPct val="115000"/>
              </a:lnSpc>
            </a:pPr>
            <a:r>
              <a:rPr sz="1000" b="1">
                <a:solidFill>
                  <a:srgbClr val="6B7482"/>
                </a:solidFill>
                <a:latin typeface="Segoe UI"/>
              </a:rPr>
              <a:t>TRAVAIL D'ÉQUIPE</a:t>
            </a:r>
          </a:p>
        </p:txBody>
      </p:sp>
      <p:sp>
        <p:nvSpPr>
          <p:cNvPr id="33" name="TextBox 32"/>
          <p:cNvSpPr txBox="1"/>
          <p:nvPr/>
        </p:nvSpPr>
        <p:spPr>
          <a:xfrm>
            <a:off x="8339328" y="4700016"/>
            <a:ext cx="2926080" cy="457200"/>
          </a:xfrm>
          <a:prstGeom prst="rect">
            <a:avLst/>
          </a:prstGeom>
          <a:noFill/>
        </p:spPr>
        <p:txBody>
          <a:bodyPr wrap="square" anchor="t">
            <a:spAutoFit/>
          </a:bodyPr>
          <a:lstStyle/>
          <a:p>
            <a:pPr algn="l">
              <a:lnSpc>
                <a:spcPct val="115000"/>
              </a:lnSpc>
            </a:pPr>
            <a:r>
              <a:rPr sz="2200" b="1">
                <a:solidFill>
                  <a:srgbClr val="14181F"/>
                </a:solidFill>
                <a:latin typeface="Segoe UI"/>
              </a:rPr>
              <a:t>GitLab</a:t>
            </a:r>
          </a:p>
        </p:txBody>
      </p:sp>
      <p:sp>
        <p:nvSpPr>
          <p:cNvPr id="34" name="TextBox 33"/>
          <p:cNvSpPr txBox="1"/>
          <p:nvPr/>
        </p:nvSpPr>
        <p:spPr>
          <a:xfrm>
            <a:off x="8339328" y="5230368"/>
            <a:ext cx="2926080" cy="548640"/>
          </a:xfrm>
          <a:prstGeom prst="rect">
            <a:avLst/>
          </a:prstGeom>
          <a:noFill/>
        </p:spPr>
        <p:txBody>
          <a:bodyPr wrap="square" anchor="t">
            <a:spAutoFit/>
          </a:bodyPr>
          <a:lstStyle/>
          <a:p>
            <a:pPr algn="l">
              <a:lnSpc>
                <a:spcPct val="120000"/>
              </a:lnSpc>
            </a:pPr>
            <a:r>
              <a:rPr sz="1200" b="0">
                <a:solidFill>
                  <a:srgbClr val="6B7482"/>
                </a:solidFill>
                <a:latin typeface="Segoe UI"/>
              </a:rPr>
              <a:t>Une branche par tâche, relue avant fusion.</a:t>
            </a:r>
          </a:p>
        </p:txBody>
      </p:sp>
      <p:sp>
        <p:nvSpPr>
          <p:cNvPr id="35" name="TextBox 34"/>
          <p:cNvSpPr txBox="1"/>
          <p:nvPr/>
        </p:nvSpPr>
        <p:spPr>
          <a:xfrm>
            <a:off x="822960" y="6355080"/>
            <a:ext cx="7315200" cy="320040"/>
          </a:xfrm>
          <a:prstGeom prst="rect">
            <a:avLst/>
          </a:prstGeom>
          <a:noFill/>
        </p:spPr>
        <p:txBody>
          <a:bodyPr wrap="square" anchor="t">
            <a:spAutoFit/>
          </a:bodyPr>
          <a:lstStyle/>
          <a:p>
            <a:pPr algn="l">
              <a:lnSpc>
                <a:spcPct val="115000"/>
              </a:lnSpc>
            </a:pPr>
            <a:r>
              <a:rPr sz="1000" b="0">
                <a:solidFill>
                  <a:srgbClr val="6B7482"/>
                </a:solidFill>
                <a:latin typeface="Segoe UI"/>
              </a:rPr>
              <a:t>Learner Success · Squad Djoloff DJ-01</a:t>
            </a:r>
          </a:p>
        </p:txBody>
      </p:sp>
      <p:sp>
        <p:nvSpPr>
          <p:cNvPr id="36" name="TextBox 35"/>
          <p:cNvSpPr txBox="1"/>
          <p:nvPr/>
        </p:nvSpPr>
        <p:spPr>
          <a:xfrm>
            <a:off x="10424160" y="6355080"/>
            <a:ext cx="1005840" cy="320040"/>
          </a:xfrm>
          <a:prstGeom prst="rect">
            <a:avLst/>
          </a:prstGeom>
          <a:noFill/>
        </p:spPr>
        <p:txBody>
          <a:bodyPr wrap="square" anchor="t">
            <a:spAutoFit/>
          </a:bodyPr>
          <a:lstStyle/>
          <a:p>
            <a:pPr algn="r">
              <a:lnSpc>
                <a:spcPct val="115000"/>
              </a:lnSpc>
            </a:pPr>
            <a:r>
              <a:rPr sz="1000" b="0">
                <a:solidFill>
                  <a:srgbClr val="6B7482"/>
                </a:solidFill>
                <a:latin typeface="Segoe UI"/>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BFAF7"/>
        </a:solidFill>
        <a:effectLst/>
      </p:bgPr>
    </p:bg>
    <p:spTree>
      <p:nvGrpSpPr>
        <p:cNvPr id="1" name=""/>
        <p:cNvGrpSpPr/>
        <p:nvPr/>
      </p:nvGrpSpPr>
      <p:grpSpPr>
        <a:xfrm>
          <a:off x="0" y="0"/>
          <a:ext cx="0" cy="0"/>
          <a:chOff x="0" y="0"/>
          <a:chExt cx="0" cy="0"/>
        </a:xfrm>
      </p:grpSpPr>
      <p:sp>
        <p:nvSpPr>
          <p:cNvPr id="2" name="TextBox 1"/>
          <p:cNvSpPr txBox="1"/>
          <p:nvPr/>
        </p:nvSpPr>
        <p:spPr>
          <a:xfrm>
            <a:off x="822960" y="566928"/>
            <a:ext cx="7315200" cy="365760"/>
          </a:xfrm>
          <a:prstGeom prst="rect">
            <a:avLst/>
          </a:prstGeom>
          <a:noFill/>
        </p:spPr>
        <p:txBody>
          <a:bodyPr wrap="square" anchor="t">
            <a:spAutoFit/>
          </a:bodyPr>
          <a:lstStyle/>
          <a:p>
            <a:pPr algn="l">
              <a:lnSpc>
                <a:spcPct val="115000"/>
              </a:lnSpc>
            </a:pPr>
            <a:r>
              <a:rPr sz="1200" b="1">
                <a:solidFill>
                  <a:srgbClr val="EE6C1E"/>
                </a:solidFill>
                <a:latin typeface="Segoe UI"/>
              </a:rPr>
              <a:t>POURQUOI ON PEUT S'Y FIER</a:t>
            </a:r>
          </a:p>
        </p:txBody>
      </p:sp>
      <p:sp>
        <p:nvSpPr>
          <p:cNvPr id="3" name="TextBox 2"/>
          <p:cNvSpPr txBox="1"/>
          <p:nvPr/>
        </p:nvSpPr>
        <p:spPr>
          <a:xfrm>
            <a:off x="822960" y="1024128"/>
            <a:ext cx="9326880" cy="914400"/>
          </a:xfrm>
          <a:prstGeom prst="rect">
            <a:avLst/>
          </a:prstGeom>
          <a:noFill/>
        </p:spPr>
        <p:txBody>
          <a:bodyPr wrap="square" anchor="t">
            <a:spAutoFit/>
          </a:bodyPr>
          <a:lstStyle/>
          <a:p>
            <a:pPr algn="l">
              <a:lnSpc>
                <a:spcPct val="115000"/>
              </a:lnSpc>
            </a:pPr>
            <a:r>
              <a:rPr sz="4000" b="1">
                <a:solidFill>
                  <a:srgbClr val="14181F"/>
                </a:solidFill>
                <a:latin typeface="Segoe UI"/>
              </a:rPr>
              <a:t>Aucune boîte noire, aucun mentor noyé.</a:t>
            </a:r>
          </a:p>
        </p:txBody>
      </p:sp>
      <p:sp>
        <p:nvSpPr>
          <p:cNvPr id="4" name="TextBox 3"/>
          <p:cNvSpPr txBox="1"/>
          <p:nvPr/>
        </p:nvSpPr>
        <p:spPr>
          <a:xfrm>
            <a:off x="9966960" y="566928"/>
            <a:ext cx="1463040" cy="365760"/>
          </a:xfrm>
          <a:prstGeom prst="rect">
            <a:avLst/>
          </a:prstGeom>
          <a:noFill/>
        </p:spPr>
        <p:txBody>
          <a:bodyPr wrap="square" anchor="t">
            <a:spAutoFit/>
          </a:bodyPr>
          <a:lstStyle/>
          <a:p>
            <a:pPr algn="r">
              <a:lnSpc>
                <a:spcPct val="115000"/>
              </a:lnSpc>
            </a:pPr>
            <a:r>
              <a:rPr sz="1200" b="1">
                <a:solidFill>
                  <a:srgbClr val="6B7482"/>
                </a:solidFill>
                <a:latin typeface="Segoe UI"/>
              </a:rPr>
              <a:t>3:55</a:t>
            </a:r>
          </a:p>
        </p:txBody>
      </p:sp>
      <p:sp>
        <p:nvSpPr>
          <p:cNvPr id="5" name="Oval 4"/>
          <p:cNvSpPr/>
          <p:nvPr/>
        </p:nvSpPr>
        <p:spPr>
          <a:xfrm>
            <a:off x="868680" y="2514600"/>
            <a:ext cx="384048" cy="384048"/>
          </a:xfrm>
          <a:prstGeom prst="ellipse">
            <a:avLst/>
          </a:prstGeom>
          <a:solidFill>
            <a:srgbClr val="EE6C1E"/>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300" b="1">
                <a:solidFill>
                  <a:srgbClr val="FFFFFF"/>
                </a:solidFill>
                <a:latin typeface="Segoe UI"/>
              </a:rPr>
              <a:t>1</a:t>
            </a:r>
          </a:p>
        </p:txBody>
      </p:sp>
      <p:sp>
        <p:nvSpPr>
          <p:cNvPr id="6" name="TextBox 5"/>
          <p:cNvSpPr txBox="1"/>
          <p:nvPr/>
        </p:nvSpPr>
        <p:spPr>
          <a:xfrm>
            <a:off x="1508760" y="2478024"/>
            <a:ext cx="9875520" cy="685800"/>
          </a:xfrm>
          <a:prstGeom prst="rect">
            <a:avLst/>
          </a:prstGeom>
          <a:noFill/>
        </p:spPr>
        <p:txBody>
          <a:bodyPr wrap="square" anchor="t">
            <a:spAutoFit/>
          </a:bodyPr>
          <a:lstStyle/>
          <a:p>
            <a:pPr algn="l">
              <a:lnSpc>
                <a:spcPct val="125000"/>
              </a:lnSpc>
            </a:pPr>
            <a:r>
              <a:rPr sz="2000" b="0">
                <a:solidFill>
                  <a:srgbClr val="14181F"/>
                </a:solidFill>
                <a:latin typeface="Segoe UI"/>
              </a:rPr>
              <a:t>Des règles écrites : « 3 absences → rouge ». Contestable.</a:t>
            </a:r>
          </a:p>
        </p:txBody>
      </p:sp>
      <p:sp>
        <p:nvSpPr>
          <p:cNvPr id="7" name="Oval 6"/>
          <p:cNvSpPr/>
          <p:nvPr/>
        </p:nvSpPr>
        <p:spPr>
          <a:xfrm>
            <a:off x="868680" y="3520440"/>
            <a:ext cx="384048" cy="384048"/>
          </a:xfrm>
          <a:prstGeom prst="ellipse">
            <a:avLst/>
          </a:prstGeom>
          <a:solidFill>
            <a:srgbClr val="EE6C1E"/>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300" b="1">
                <a:solidFill>
                  <a:srgbClr val="FFFFFF"/>
                </a:solidFill>
                <a:latin typeface="Segoe UI"/>
              </a:rPr>
              <a:t>2</a:t>
            </a:r>
          </a:p>
        </p:txBody>
      </p:sp>
      <p:sp>
        <p:nvSpPr>
          <p:cNvPr id="8" name="TextBox 7"/>
          <p:cNvSpPr txBox="1"/>
          <p:nvPr/>
        </p:nvSpPr>
        <p:spPr>
          <a:xfrm>
            <a:off x="1508760" y="3483864"/>
            <a:ext cx="9875520" cy="685800"/>
          </a:xfrm>
          <a:prstGeom prst="rect">
            <a:avLst/>
          </a:prstGeom>
          <a:noFill/>
        </p:spPr>
        <p:txBody>
          <a:bodyPr wrap="square" anchor="t">
            <a:spAutoFit/>
          </a:bodyPr>
          <a:lstStyle/>
          <a:p>
            <a:pPr algn="l">
              <a:lnSpc>
                <a:spcPct val="125000"/>
              </a:lnSpc>
            </a:pPr>
            <a:r>
              <a:rPr sz="2000" b="0">
                <a:solidFill>
                  <a:srgbClr val="14181F"/>
                </a:solidFill>
                <a:latin typeface="Segoe UI"/>
              </a:rPr>
              <a:t>Chacun ne voit que ses cohortes — le serveur refuse le reste.</a:t>
            </a:r>
          </a:p>
        </p:txBody>
      </p:sp>
      <p:sp>
        <p:nvSpPr>
          <p:cNvPr id="9" name="Oval 8"/>
          <p:cNvSpPr/>
          <p:nvPr/>
        </p:nvSpPr>
        <p:spPr>
          <a:xfrm>
            <a:off x="868680" y="4526280"/>
            <a:ext cx="384048" cy="384048"/>
          </a:xfrm>
          <a:prstGeom prst="ellipse">
            <a:avLst/>
          </a:prstGeom>
          <a:solidFill>
            <a:srgbClr val="EE6C1E"/>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300" b="1">
                <a:solidFill>
                  <a:srgbClr val="FFFFFF"/>
                </a:solidFill>
                <a:latin typeface="Segoe UI"/>
              </a:rPr>
              <a:t>3</a:t>
            </a:r>
          </a:p>
        </p:txBody>
      </p:sp>
      <p:sp>
        <p:nvSpPr>
          <p:cNvPr id="10" name="TextBox 9"/>
          <p:cNvSpPr txBox="1"/>
          <p:nvPr/>
        </p:nvSpPr>
        <p:spPr>
          <a:xfrm>
            <a:off x="1508760" y="4489704"/>
            <a:ext cx="9875520" cy="685800"/>
          </a:xfrm>
          <a:prstGeom prst="rect">
            <a:avLst/>
          </a:prstGeom>
          <a:noFill/>
        </p:spPr>
        <p:txBody>
          <a:bodyPr wrap="square" anchor="t">
            <a:spAutoFit/>
          </a:bodyPr>
          <a:lstStyle/>
          <a:p>
            <a:pPr algn="l">
              <a:lnSpc>
                <a:spcPct val="125000"/>
              </a:lnSpc>
            </a:pPr>
            <a:r>
              <a:rPr sz="2000" b="0">
                <a:solidFill>
                  <a:srgbClr val="14181F"/>
                </a:solidFill>
                <a:latin typeface="Segoe UI"/>
              </a:rPr>
              <a:t>386 tests automatiques, lancés à chaque changement.</a:t>
            </a:r>
          </a:p>
        </p:txBody>
      </p:sp>
      <p:sp>
        <p:nvSpPr>
          <p:cNvPr id="11" name="TextBox 10"/>
          <p:cNvSpPr txBox="1"/>
          <p:nvPr/>
        </p:nvSpPr>
        <p:spPr>
          <a:xfrm>
            <a:off x="822960" y="6355080"/>
            <a:ext cx="7315200" cy="320040"/>
          </a:xfrm>
          <a:prstGeom prst="rect">
            <a:avLst/>
          </a:prstGeom>
          <a:noFill/>
        </p:spPr>
        <p:txBody>
          <a:bodyPr wrap="square" anchor="t">
            <a:spAutoFit/>
          </a:bodyPr>
          <a:lstStyle/>
          <a:p>
            <a:pPr algn="l">
              <a:lnSpc>
                <a:spcPct val="115000"/>
              </a:lnSpc>
            </a:pPr>
            <a:r>
              <a:rPr sz="1000" b="0">
                <a:solidFill>
                  <a:srgbClr val="6B7482"/>
                </a:solidFill>
                <a:latin typeface="Segoe UI"/>
              </a:rPr>
              <a:t>Learner Success · Squad Djoloff DJ-01</a:t>
            </a:r>
          </a:p>
        </p:txBody>
      </p:sp>
      <p:sp>
        <p:nvSpPr>
          <p:cNvPr id="12" name="TextBox 11"/>
          <p:cNvSpPr txBox="1"/>
          <p:nvPr/>
        </p:nvSpPr>
        <p:spPr>
          <a:xfrm>
            <a:off x="10424160" y="6355080"/>
            <a:ext cx="1005840" cy="320040"/>
          </a:xfrm>
          <a:prstGeom prst="rect">
            <a:avLst/>
          </a:prstGeom>
          <a:noFill/>
        </p:spPr>
        <p:txBody>
          <a:bodyPr wrap="square" anchor="t">
            <a:spAutoFit/>
          </a:bodyPr>
          <a:lstStyle/>
          <a:p>
            <a:pPr algn="r">
              <a:lnSpc>
                <a:spcPct val="115000"/>
              </a:lnSpc>
            </a:pPr>
            <a:r>
              <a:rPr sz="1000" b="0">
                <a:solidFill>
                  <a:srgbClr val="6B7482"/>
                </a:solidFill>
                <a:latin typeface="Segoe UI"/>
              </a:rP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BFAF7"/>
        </a:solidFill>
        <a:effectLst/>
      </p:bgPr>
    </p:bg>
    <p:spTree>
      <p:nvGrpSpPr>
        <p:cNvPr id="1" name=""/>
        <p:cNvGrpSpPr/>
        <p:nvPr/>
      </p:nvGrpSpPr>
      <p:grpSpPr>
        <a:xfrm>
          <a:off x="0" y="0"/>
          <a:ext cx="0" cy="0"/>
          <a:chOff x="0" y="0"/>
          <a:chExt cx="0" cy="0"/>
        </a:xfrm>
      </p:grpSpPr>
      <p:sp>
        <p:nvSpPr>
          <p:cNvPr id="2" name="TextBox 1"/>
          <p:cNvSpPr txBox="1"/>
          <p:nvPr/>
        </p:nvSpPr>
        <p:spPr>
          <a:xfrm>
            <a:off x="822960" y="566928"/>
            <a:ext cx="7315200" cy="365760"/>
          </a:xfrm>
          <a:prstGeom prst="rect">
            <a:avLst/>
          </a:prstGeom>
          <a:noFill/>
        </p:spPr>
        <p:txBody>
          <a:bodyPr wrap="square" anchor="t">
            <a:spAutoFit/>
          </a:bodyPr>
          <a:lstStyle/>
          <a:p>
            <a:pPr algn="l">
              <a:lnSpc>
                <a:spcPct val="115000"/>
              </a:lnSpc>
            </a:pPr>
            <a:r>
              <a:rPr sz="1200" b="1">
                <a:solidFill>
                  <a:srgbClr val="EE6C1E"/>
                </a:solidFill>
                <a:latin typeface="Segoe UI"/>
              </a:rPr>
              <a:t>L'ÉQUIPE</a:t>
            </a:r>
          </a:p>
        </p:txBody>
      </p:sp>
      <p:sp>
        <p:nvSpPr>
          <p:cNvPr id="3" name="TextBox 2"/>
          <p:cNvSpPr txBox="1"/>
          <p:nvPr/>
        </p:nvSpPr>
        <p:spPr>
          <a:xfrm>
            <a:off x="822960" y="1024128"/>
            <a:ext cx="9326880" cy="914400"/>
          </a:xfrm>
          <a:prstGeom prst="rect">
            <a:avLst/>
          </a:prstGeom>
          <a:noFill/>
        </p:spPr>
        <p:txBody>
          <a:bodyPr wrap="square" anchor="t">
            <a:spAutoFit/>
          </a:bodyPr>
          <a:lstStyle/>
          <a:p>
            <a:pPr algn="l">
              <a:lnSpc>
                <a:spcPct val="115000"/>
              </a:lnSpc>
            </a:pPr>
            <a:r>
              <a:rPr sz="4000" b="1">
                <a:solidFill>
                  <a:srgbClr val="14181F"/>
                </a:solidFill>
                <a:latin typeface="Segoe UI"/>
              </a:rPr>
              <a:t>Trois rôles, rien qui passe sans relecture.</a:t>
            </a:r>
          </a:p>
        </p:txBody>
      </p:sp>
      <p:sp>
        <p:nvSpPr>
          <p:cNvPr id="4" name="TextBox 3"/>
          <p:cNvSpPr txBox="1"/>
          <p:nvPr/>
        </p:nvSpPr>
        <p:spPr>
          <a:xfrm>
            <a:off x="9966960" y="566928"/>
            <a:ext cx="1463040" cy="365760"/>
          </a:xfrm>
          <a:prstGeom prst="rect">
            <a:avLst/>
          </a:prstGeom>
          <a:noFill/>
        </p:spPr>
        <p:txBody>
          <a:bodyPr wrap="square" anchor="t">
            <a:spAutoFit/>
          </a:bodyPr>
          <a:lstStyle/>
          <a:p>
            <a:pPr algn="r">
              <a:lnSpc>
                <a:spcPct val="115000"/>
              </a:lnSpc>
            </a:pPr>
            <a:r>
              <a:rPr sz="1200" b="1">
                <a:solidFill>
                  <a:srgbClr val="6B7482"/>
                </a:solidFill>
                <a:latin typeface="Segoe UI"/>
              </a:rPr>
              <a:t>4:20</a:t>
            </a:r>
          </a:p>
        </p:txBody>
      </p:sp>
      <p:sp>
        <p:nvSpPr>
          <p:cNvPr id="5" name="Rounded Rectangle 4"/>
          <p:cNvSpPr/>
          <p:nvPr/>
        </p:nvSpPr>
        <p:spPr>
          <a:xfrm>
            <a:off x="822960" y="2468880"/>
            <a:ext cx="3291840" cy="2286000"/>
          </a:xfrm>
          <a:prstGeom prst="roundRect">
            <a:avLst>
              <a:gd name="adj" fmla="val 6000"/>
            </a:avLst>
          </a:prstGeom>
          <a:solidFill>
            <a:srgbClr val="FFFFFF"/>
          </a:solidFill>
          <a:ln w="12700">
            <a:solidFill>
              <a:srgbClr val="E2DE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22960" y="2468880"/>
            <a:ext cx="54864" cy="2286000"/>
          </a:xfrm>
          <a:prstGeom prst="rect">
            <a:avLst/>
          </a:prstGeom>
          <a:solidFill>
            <a:srgbClr val="C43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15568" y="2697480"/>
            <a:ext cx="2834640" cy="320040"/>
          </a:xfrm>
          <a:prstGeom prst="rect">
            <a:avLst/>
          </a:prstGeom>
          <a:noFill/>
        </p:spPr>
        <p:txBody>
          <a:bodyPr wrap="square" anchor="t">
            <a:spAutoFit/>
          </a:bodyPr>
          <a:lstStyle/>
          <a:p>
            <a:pPr algn="l">
              <a:lnSpc>
                <a:spcPct val="115000"/>
              </a:lnSpc>
            </a:pPr>
            <a:r>
              <a:rPr sz="1000" b="1">
                <a:solidFill>
                  <a:srgbClr val="6B7482"/>
                </a:solidFill>
                <a:latin typeface="Segoe UI"/>
              </a:rPr>
              <a:t>PRODUIT &amp; TERRAIN</a:t>
            </a:r>
          </a:p>
        </p:txBody>
      </p:sp>
      <p:sp>
        <p:nvSpPr>
          <p:cNvPr id="8" name="TextBox 7"/>
          <p:cNvSpPr txBox="1"/>
          <p:nvPr/>
        </p:nvSpPr>
        <p:spPr>
          <a:xfrm>
            <a:off x="1115568" y="3017520"/>
            <a:ext cx="2926080" cy="822960"/>
          </a:xfrm>
          <a:prstGeom prst="rect">
            <a:avLst/>
          </a:prstGeom>
          <a:noFill/>
        </p:spPr>
        <p:txBody>
          <a:bodyPr wrap="square" anchor="t">
            <a:spAutoFit/>
          </a:bodyPr>
          <a:lstStyle/>
          <a:p>
            <a:pPr algn="l">
              <a:lnSpc>
                <a:spcPct val="110000"/>
              </a:lnSpc>
            </a:pPr>
            <a:r>
              <a:rPr sz="2000" b="1">
                <a:solidFill>
                  <a:srgbClr val="14181F"/>
                </a:solidFill>
                <a:latin typeface="Segoe UI"/>
              </a:rPr>
              <a:t>Kiné DIALLO</a:t>
            </a:r>
          </a:p>
        </p:txBody>
      </p:sp>
      <p:sp>
        <p:nvSpPr>
          <p:cNvPr id="9" name="TextBox 8"/>
          <p:cNvSpPr txBox="1"/>
          <p:nvPr/>
        </p:nvSpPr>
        <p:spPr>
          <a:xfrm>
            <a:off x="1115568" y="3886200"/>
            <a:ext cx="2926080" cy="731520"/>
          </a:xfrm>
          <a:prstGeom prst="rect">
            <a:avLst/>
          </a:prstGeom>
          <a:noFill/>
        </p:spPr>
        <p:txBody>
          <a:bodyPr wrap="square" anchor="t">
            <a:spAutoFit/>
          </a:bodyPr>
          <a:lstStyle/>
          <a:p>
            <a:pPr algn="l">
              <a:lnSpc>
                <a:spcPct val="125000"/>
              </a:lnSpc>
            </a:pPr>
            <a:r>
              <a:rPr sz="1200" b="0">
                <a:solidFill>
                  <a:srgbClr val="6B7482"/>
                </a:solidFill>
                <a:latin typeface="Segoe UI"/>
              </a:rPr>
              <a:t>Entretiens, persona, besoins classés, livrables.</a:t>
            </a:r>
          </a:p>
        </p:txBody>
      </p:sp>
      <p:sp>
        <p:nvSpPr>
          <p:cNvPr id="10" name="Rounded Rectangle 9"/>
          <p:cNvSpPr/>
          <p:nvPr/>
        </p:nvSpPr>
        <p:spPr>
          <a:xfrm>
            <a:off x="4434840" y="2468880"/>
            <a:ext cx="3291840" cy="2286000"/>
          </a:xfrm>
          <a:prstGeom prst="roundRect">
            <a:avLst>
              <a:gd name="adj" fmla="val 6000"/>
            </a:avLst>
          </a:prstGeom>
          <a:solidFill>
            <a:srgbClr val="FFFFFF"/>
          </a:solidFill>
          <a:ln w="12700">
            <a:solidFill>
              <a:srgbClr val="E2DE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434840" y="2468880"/>
            <a:ext cx="54864" cy="2286000"/>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727448" y="2697480"/>
            <a:ext cx="2834640" cy="320040"/>
          </a:xfrm>
          <a:prstGeom prst="rect">
            <a:avLst/>
          </a:prstGeom>
          <a:noFill/>
        </p:spPr>
        <p:txBody>
          <a:bodyPr wrap="square" anchor="t">
            <a:spAutoFit/>
          </a:bodyPr>
          <a:lstStyle/>
          <a:p>
            <a:pPr algn="l">
              <a:lnSpc>
                <a:spcPct val="115000"/>
              </a:lnSpc>
            </a:pPr>
            <a:r>
              <a:rPr sz="1000" b="1">
                <a:solidFill>
                  <a:srgbClr val="6B7482"/>
                </a:solidFill>
                <a:latin typeface="Segoe UI"/>
              </a:rPr>
              <a:t>INTERFACE</a:t>
            </a:r>
          </a:p>
        </p:txBody>
      </p:sp>
      <p:sp>
        <p:nvSpPr>
          <p:cNvPr id="13" name="TextBox 12"/>
          <p:cNvSpPr txBox="1"/>
          <p:nvPr/>
        </p:nvSpPr>
        <p:spPr>
          <a:xfrm>
            <a:off x="4727448" y="3017520"/>
            <a:ext cx="2926080" cy="822960"/>
          </a:xfrm>
          <a:prstGeom prst="rect">
            <a:avLst/>
          </a:prstGeom>
          <a:noFill/>
        </p:spPr>
        <p:txBody>
          <a:bodyPr wrap="square" anchor="t">
            <a:spAutoFit/>
          </a:bodyPr>
          <a:lstStyle/>
          <a:p>
            <a:pPr algn="l">
              <a:lnSpc>
                <a:spcPct val="110000"/>
              </a:lnSpc>
            </a:pPr>
            <a:r>
              <a:rPr sz="2000" b="1">
                <a:solidFill>
                  <a:srgbClr val="14181F"/>
                </a:solidFill>
                <a:latin typeface="Segoe UI"/>
              </a:rPr>
              <a:t>Cheikh Massamba Dia</a:t>
            </a:r>
          </a:p>
        </p:txBody>
      </p:sp>
      <p:sp>
        <p:nvSpPr>
          <p:cNvPr id="14" name="TextBox 13"/>
          <p:cNvSpPr txBox="1"/>
          <p:nvPr/>
        </p:nvSpPr>
        <p:spPr>
          <a:xfrm>
            <a:off x="4727448" y="3886200"/>
            <a:ext cx="2926080" cy="731520"/>
          </a:xfrm>
          <a:prstGeom prst="rect">
            <a:avLst/>
          </a:prstGeom>
          <a:noFill/>
        </p:spPr>
        <p:txBody>
          <a:bodyPr wrap="square" anchor="t">
            <a:spAutoFit/>
          </a:bodyPr>
          <a:lstStyle/>
          <a:p>
            <a:pPr algn="l">
              <a:lnSpc>
                <a:spcPct val="125000"/>
              </a:lnSpc>
            </a:pPr>
            <a:r>
              <a:rPr sz="1200" b="0">
                <a:solidFill>
                  <a:srgbClr val="6B7482"/>
                </a:solidFill>
                <a:latin typeface="Segoe UI"/>
              </a:rPr>
              <a:t>Tout ce que le mentor voit et manipule.</a:t>
            </a:r>
          </a:p>
        </p:txBody>
      </p:sp>
      <p:sp>
        <p:nvSpPr>
          <p:cNvPr id="15" name="Rounded Rectangle 14"/>
          <p:cNvSpPr/>
          <p:nvPr/>
        </p:nvSpPr>
        <p:spPr>
          <a:xfrm>
            <a:off x="8046720" y="2468880"/>
            <a:ext cx="3291840" cy="2286000"/>
          </a:xfrm>
          <a:prstGeom prst="roundRect">
            <a:avLst>
              <a:gd name="adj" fmla="val 6000"/>
            </a:avLst>
          </a:prstGeom>
          <a:solidFill>
            <a:srgbClr val="FFFFFF"/>
          </a:solidFill>
          <a:ln w="12700">
            <a:solidFill>
              <a:srgbClr val="E2DE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046720" y="2468880"/>
            <a:ext cx="54864" cy="2286000"/>
          </a:xfrm>
          <a:prstGeom prst="rect">
            <a:avLst/>
          </a:prstGeom>
          <a:solidFill>
            <a:srgbClr val="EE6C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339328" y="2697480"/>
            <a:ext cx="2834640" cy="320040"/>
          </a:xfrm>
          <a:prstGeom prst="rect">
            <a:avLst/>
          </a:prstGeom>
          <a:noFill/>
        </p:spPr>
        <p:txBody>
          <a:bodyPr wrap="square" anchor="t">
            <a:spAutoFit/>
          </a:bodyPr>
          <a:lstStyle/>
          <a:p>
            <a:pPr algn="l">
              <a:lnSpc>
                <a:spcPct val="115000"/>
              </a:lnSpc>
            </a:pPr>
            <a:r>
              <a:rPr sz="1000" b="1">
                <a:solidFill>
                  <a:srgbClr val="6B7482"/>
                </a:solidFill>
                <a:latin typeface="Segoe UI"/>
              </a:rPr>
              <a:t>MOTEUR &amp; DONNÉES</a:t>
            </a:r>
          </a:p>
        </p:txBody>
      </p:sp>
      <p:sp>
        <p:nvSpPr>
          <p:cNvPr id="18" name="TextBox 17"/>
          <p:cNvSpPr txBox="1"/>
          <p:nvPr/>
        </p:nvSpPr>
        <p:spPr>
          <a:xfrm>
            <a:off x="8339328" y="3017520"/>
            <a:ext cx="2926080" cy="822960"/>
          </a:xfrm>
          <a:prstGeom prst="rect">
            <a:avLst/>
          </a:prstGeom>
          <a:noFill/>
        </p:spPr>
        <p:txBody>
          <a:bodyPr wrap="square" anchor="t">
            <a:spAutoFit/>
          </a:bodyPr>
          <a:lstStyle/>
          <a:p>
            <a:pPr algn="l">
              <a:lnSpc>
                <a:spcPct val="110000"/>
              </a:lnSpc>
            </a:pPr>
            <a:r>
              <a:rPr sz="2000" b="1">
                <a:solidFill>
                  <a:srgbClr val="14181F"/>
                </a:solidFill>
                <a:latin typeface="Segoe UI"/>
              </a:rPr>
              <a:t>Papa Malick NDIAYE</a:t>
            </a:r>
          </a:p>
        </p:txBody>
      </p:sp>
      <p:sp>
        <p:nvSpPr>
          <p:cNvPr id="19" name="TextBox 18"/>
          <p:cNvSpPr txBox="1"/>
          <p:nvPr/>
        </p:nvSpPr>
        <p:spPr>
          <a:xfrm>
            <a:off x="8339328" y="3886200"/>
            <a:ext cx="2926080" cy="731520"/>
          </a:xfrm>
          <a:prstGeom prst="rect">
            <a:avLst/>
          </a:prstGeom>
          <a:noFill/>
        </p:spPr>
        <p:txBody>
          <a:bodyPr wrap="square" anchor="t">
            <a:spAutoFit/>
          </a:bodyPr>
          <a:lstStyle/>
          <a:p>
            <a:pPr algn="l">
              <a:lnSpc>
                <a:spcPct val="125000"/>
              </a:lnSpc>
            </a:pPr>
            <a:r>
              <a:rPr sz="1200" b="0">
                <a:solidFill>
                  <a:srgbClr val="6B7482"/>
                </a:solidFill>
                <a:latin typeface="Segoe UI"/>
              </a:rPr>
              <a:t>Risque, alertes, mise en ligne, tests.</a:t>
            </a:r>
          </a:p>
        </p:txBody>
      </p:sp>
      <p:sp>
        <p:nvSpPr>
          <p:cNvPr id="20" name="TextBox 19"/>
          <p:cNvSpPr txBox="1"/>
          <p:nvPr/>
        </p:nvSpPr>
        <p:spPr>
          <a:xfrm>
            <a:off x="822960" y="5120640"/>
            <a:ext cx="10515600" cy="548640"/>
          </a:xfrm>
          <a:prstGeom prst="rect">
            <a:avLst/>
          </a:prstGeom>
          <a:noFill/>
        </p:spPr>
        <p:txBody>
          <a:bodyPr wrap="square" anchor="t">
            <a:spAutoFit/>
          </a:bodyPr>
          <a:lstStyle/>
          <a:p>
            <a:pPr algn="l">
              <a:lnSpc>
                <a:spcPct val="115000"/>
              </a:lnSpc>
            </a:pPr>
            <a:r>
              <a:rPr sz="1600" b="1">
                <a:solidFill>
                  <a:srgbClr val="6B7482"/>
                </a:solidFill>
                <a:latin typeface="Segoe UI"/>
              </a:rPr>
              <a:t>Une tâche = une branche = une relecture, avant d'entrer dans la version commune.</a:t>
            </a:r>
          </a:p>
        </p:txBody>
      </p:sp>
      <p:sp>
        <p:nvSpPr>
          <p:cNvPr id="21" name="TextBox 20"/>
          <p:cNvSpPr txBox="1"/>
          <p:nvPr/>
        </p:nvSpPr>
        <p:spPr>
          <a:xfrm>
            <a:off x="822960" y="6355080"/>
            <a:ext cx="7315200" cy="320040"/>
          </a:xfrm>
          <a:prstGeom prst="rect">
            <a:avLst/>
          </a:prstGeom>
          <a:noFill/>
        </p:spPr>
        <p:txBody>
          <a:bodyPr wrap="square" anchor="t">
            <a:spAutoFit/>
          </a:bodyPr>
          <a:lstStyle/>
          <a:p>
            <a:pPr algn="l">
              <a:lnSpc>
                <a:spcPct val="115000"/>
              </a:lnSpc>
            </a:pPr>
            <a:r>
              <a:rPr sz="1000" b="0">
                <a:solidFill>
                  <a:srgbClr val="6B7482"/>
                </a:solidFill>
                <a:latin typeface="Segoe UI"/>
              </a:rPr>
              <a:t>Learner Success · Squad Djoloff DJ-01</a:t>
            </a:r>
          </a:p>
        </p:txBody>
      </p:sp>
      <p:sp>
        <p:nvSpPr>
          <p:cNvPr id="22" name="TextBox 21"/>
          <p:cNvSpPr txBox="1"/>
          <p:nvPr/>
        </p:nvSpPr>
        <p:spPr>
          <a:xfrm>
            <a:off x="10424160" y="6355080"/>
            <a:ext cx="1005840" cy="320040"/>
          </a:xfrm>
          <a:prstGeom prst="rect">
            <a:avLst/>
          </a:prstGeom>
          <a:noFill/>
        </p:spPr>
        <p:txBody>
          <a:bodyPr wrap="square" anchor="t">
            <a:spAutoFit/>
          </a:bodyPr>
          <a:lstStyle/>
          <a:p>
            <a:pPr algn="r">
              <a:lnSpc>
                <a:spcPct val="115000"/>
              </a:lnSpc>
            </a:pPr>
            <a:r>
              <a:rPr sz="1000" b="0">
                <a:solidFill>
                  <a:srgbClr val="6B7482"/>
                </a:solidFill>
                <a:latin typeface="Segoe UI"/>
              </a:rP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BFAF7"/>
        </a:solidFill>
        <a:effectLst/>
      </p:bgPr>
    </p:bg>
    <p:spTree>
      <p:nvGrpSpPr>
        <p:cNvPr id="1" name=""/>
        <p:cNvGrpSpPr/>
        <p:nvPr/>
      </p:nvGrpSpPr>
      <p:grpSpPr>
        <a:xfrm>
          <a:off x="0" y="0"/>
          <a:ext cx="0" cy="0"/>
          <a:chOff x="0" y="0"/>
          <a:chExt cx="0" cy="0"/>
        </a:xfrm>
      </p:grpSpPr>
      <p:sp>
        <p:nvSpPr>
          <p:cNvPr id="2" name="TextBox 1"/>
          <p:cNvSpPr txBox="1"/>
          <p:nvPr/>
        </p:nvSpPr>
        <p:spPr>
          <a:xfrm>
            <a:off x="822960" y="566928"/>
            <a:ext cx="7315200" cy="365760"/>
          </a:xfrm>
          <a:prstGeom prst="rect">
            <a:avLst/>
          </a:prstGeom>
          <a:noFill/>
        </p:spPr>
        <p:txBody>
          <a:bodyPr wrap="square" anchor="t">
            <a:spAutoFit/>
          </a:bodyPr>
          <a:lstStyle/>
          <a:p>
            <a:pPr algn="l">
              <a:lnSpc>
                <a:spcPct val="115000"/>
              </a:lnSpc>
            </a:pPr>
            <a:r>
              <a:rPr sz="1200" b="1">
                <a:solidFill>
                  <a:srgbClr val="EE6C1E"/>
                </a:solidFill>
                <a:latin typeface="Segoe UI"/>
              </a:rPr>
              <a:t>CE QUI RESTE</a:t>
            </a:r>
          </a:p>
        </p:txBody>
      </p:sp>
      <p:sp>
        <p:nvSpPr>
          <p:cNvPr id="3" name="TextBox 2"/>
          <p:cNvSpPr txBox="1"/>
          <p:nvPr/>
        </p:nvSpPr>
        <p:spPr>
          <a:xfrm>
            <a:off x="822960" y="1024128"/>
            <a:ext cx="9326880" cy="914400"/>
          </a:xfrm>
          <a:prstGeom prst="rect">
            <a:avLst/>
          </a:prstGeom>
          <a:noFill/>
        </p:spPr>
        <p:txBody>
          <a:bodyPr wrap="square" anchor="t">
            <a:spAutoFit/>
          </a:bodyPr>
          <a:lstStyle/>
          <a:p>
            <a:pPr algn="l">
              <a:lnSpc>
                <a:spcPct val="115000"/>
              </a:lnSpc>
            </a:pPr>
            <a:r>
              <a:rPr sz="4000" b="1">
                <a:solidFill>
                  <a:srgbClr val="14181F"/>
                </a:solidFill>
                <a:latin typeface="Segoe UI"/>
              </a:rPr>
              <a:t>Trois limites qu'on nomme nous-mêmes.</a:t>
            </a:r>
          </a:p>
        </p:txBody>
      </p:sp>
      <p:sp>
        <p:nvSpPr>
          <p:cNvPr id="4" name="TextBox 3"/>
          <p:cNvSpPr txBox="1"/>
          <p:nvPr/>
        </p:nvSpPr>
        <p:spPr>
          <a:xfrm>
            <a:off x="9966960" y="566928"/>
            <a:ext cx="1463040" cy="365760"/>
          </a:xfrm>
          <a:prstGeom prst="rect">
            <a:avLst/>
          </a:prstGeom>
          <a:noFill/>
        </p:spPr>
        <p:txBody>
          <a:bodyPr wrap="square" anchor="t">
            <a:spAutoFit/>
          </a:bodyPr>
          <a:lstStyle/>
          <a:p>
            <a:pPr algn="r">
              <a:lnSpc>
                <a:spcPct val="115000"/>
              </a:lnSpc>
            </a:pPr>
            <a:r>
              <a:rPr sz="1200" b="1">
                <a:solidFill>
                  <a:srgbClr val="6B7482"/>
                </a:solidFill>
                <a:latin typeface="Segoe UI"/>
              </a:rPr>
              <a:t>4:40</a:t>
            </a:r>
          </a:p>
        </p:txBody>
      </p:sp>
      <p:sp>
        <p:nvSpPr>
          <p:cNvPr id="5" name="Oval 4"/>
          <p:cNvSpPr/>
          <p:nvPr/>
        </p:nvSpPr>
        <p:spPr>
          <a:xfrm>
            <a:off x="868680" y="2514600"/>
            <a:ext cx="384048" cy="384048"/>
          </a:xfrm>
          <a:prstGeom prst="ellipse">
            <a:avLst/>
          </a:prstGeom>
          <a:solidFill>
            <a:srgbClr val="EE6C1E"/>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300" b="1">
                <a:solidFill>
                  <a:srgbClr val="FFFFFF"/>
                </a:solidFill>
                <a:latin typeface="Segoe UI"/>
              </a:rPr>
              <a:t>1</a:t>
            </a:r>
          </a:p>
        </p:txBody>
      </p:sp>
      <p:sp>
        <p:nvSpPr>
          <p:cNvPr id="6" name="TextBox 5"/>
          <p:cNvSpPr txBox="1"/>
          <p:nvPr/>
        </p:nvSpPr>
        <p:spPr>
          <a:xfrm>
            <a:off x="1508760" y="2478024"/>
            <a:ext cx="9875520" cy="685800"/>
          </a:xfrm>
          <a:prstGeom prst="rect">
            <a:avLst/>
          </a:prstGeom>
          <a:noFill/>
        </p:spPr>
        <p:txBody>
          <a:bodyPr wrap="square" anchor="t">
            <a:spAutoFit/>
          </a:bodyPr>
          <a:lstStyle/>
          <a:p>
            <a:pPr algn="l">
              <a:lnSpc>
                <a:spcPct val="125000"/>
              </a:lnSpc>
            </a:pPr>
            <a:r>
              <a:rPr sz="2000" b="0">
                <a:solidFill>
                  <a:srgbClr val="14181F"/>
                </a:solidFill>
                <a:latin typeface="Segoe UI"/>
              </a:rPr>
              <a:t>L'envoi du mail passe encore par un service extérieur.</a:t>
            </a:r>
          </a:p>
        </p:txBody>
      </p:sp>
      <p:sp>
        <p:nvSpPr>
          <p:cNvPr id="7" name="Oval 6"/>
          <p:cNvSpPr/>
          <p:nvPr/>
        </p:nvSpPr>
        <p:spPr>
          <a:xfrm>
            <a:off x="868680" y="3520440"/>
            <a:ext cx="384048" cy="384048"/>
          </a:xfrm>
          <a:prstGeom prst="ellipse">
            <a:avLst/>
          </a:prstGeom>
          <a:solidFill>
            <a:srgbClr val="EE6C1E"/>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300" b="1">
                <a:solidFill>
                  <a:srgbClr val="FFFFFF"/>
                </a:solidFill>
                <a:latin typeface="Segoe UI"/>
              </a:rPr>
              <a:t>2</a:t>
            </a:r>
          </a:p>
        </p:txBody>
      </p:sp>
      <p:sp>
        <p:nvSpPr>
          <p:cNvPr id="8" name="TextBox 7"/>
          <p:cNvSpPr txBox="1"/>
          <p:nvPr/>
        </p:nvSpPr>
        <p:spPr>
          <a:xfrm>
            <a:off x="1508760" y="3483864"/>
            <a:ext cx="9875520" cy="685800"/>
          </a:xfrm>
          <a:prstGeom prst="rect">
            <a:avLst/>
          </a:prstGeom>
          <a:noFill/>
        </p:spPr>
        <p:txBody>
          <a:bodyPr wrap="square" anchor="t">
            <a:spAutoFit/>
          </a:bodyPr>
          <a:lstStyle/>
          <a:p>
            <a:pPr algn="l">
              <a:lnSpc>
                <a:spcPct val="125000"/>
              </a:lnSpc>
            </a:pPr>
            <a:r>
              <a:rPr sz="2000" b="0">
                <a:solidFill>
                  <a:srgbClr val="14181F"/>
                </a:solidFill>
                <a:latin typeface="Segoe UI"/>
              </a:rPr>
              <a:t>La base gratuite expire le 18 septembre.</a:t>
            </a:r>
          </a:p>
        </p:txBody>
      </p:sp>
      <p:sp>
        <p:nvSpPr>
          <p:cNvPr id="9" name="Oval 8"/>
          <p:cNvSpPr/>
          <p:nvPr/>
        </p:nvSpPr>
        <p:spPr>
          <a:xfrm>
            <a:off x="868680" y="4526280"/>
            <a:ext cx="384048" cy="384048"/>
          </a:xfrm>
          <a:prstGeom prst="ellipse">
            <a:avLst/>
          </a:prstGeom>
          <a:solidFill>
            <a:srgbClr val="EE6C1E"/>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300" b="1">
                <a:solidFill>
                  <a:srgbClr val="FFFFFF"/>
                </a:solidFill>
                <a:latin typeface="Segoe UI"/>
              </a:rPr>
              <a:t>3</a:t>
            </a:r>
          </a:p>
        </p:txBody>
      </p:sp>
      <p:sp>
        <p:nvSpPr>
          <p:cNvPr id="10" name="TextBox 9"/>
          <p:cNvSpPr txBox="1"/>
          <p:nvPr/>
        </p:nvSpPr>
        <p:spPr>
          <a:xfrm>
            <a:off x="1508760" y="4489704"/>
            <a:ext cx="9875520" cy="685800"/>
          </a:xfrm>
          <a:prstGeom prst="rect">
            <a:avLst/>
          </a:prstGeom>
          <a:noFill/>
        </p:spPr>
        <p:txBody>
          <a:bodyPr wrap="square" anchor="t">
            <a:spAutoFit/>
          </a:bodyPr>
          <a:lstStyle/>
          <a:p>
            <a:pPr algn="l">
              <a:lnSpc>
                <a:spcPct val="125000"/>
              </a:lnSpc>
            </a:pPr>
            <a:r>
              <a:rPr sz="2000" b="0">
                <a:solidFill>
                  <a:srgbClr val="14181F"/>
                </a:solidFill>
                <a:latin typeface="Segoe UI"/>
              </a:rPr>
              <a:t>Créer un compte mentor se fait en ligne de commande.</a:t>
            </a:r>
          </a:p>
        </p:txBody>
      </p:sp>
      <p:sp>
        <p:nvSpPr>
          <p:cNvPr id="11" name="TextBox 10"/>
          <p:cNvSpPr txBox="1"/>
          <p:nvPr/>
        </p:nvSpPr>
        <p:spPr>
          <a:xfrm>
            <a:off x="822960" y="6355080"/>
            <a:ext cx="7315200" cy="320040"/>
          </a:xfrm>
          <a:prstGeom prst="rect">
            <a:avLst/>
          </a:prstGeom>
          <a:noFill/>
        </p:spPr>
        <p:txBody>
          <a:bodyPr wrap="square" anchor="t">
            <a:spAutoFit/>
          </a:bodyPr>
          <a:lstStyle/>
          <a:p>
            <a:pPr algn="l">
              <a:lnSpc>
                <a:spcPct val="115000"/>
              </a:lnSpc>
            </a:pPr>
            <a:r>
              <a:rPr sz="1000" b="0">
                <a:solidFill>
                  <a:srgbClr val="6B7482"/>
                </a:solidFill>
                <a:latin typeface="Segoe UI"/>
              </a:rPr>
              <a:t>Learner Success · Squad Djoloff DJ-01</a:t>
            </a:r>
          </a:p>
        </p:txBody>
      </p:sp>
      <p:sp>
        <p:nvSpPr>
          <p:cNvPr id="12" name="TextBox 11"/>
          <p:cNvSpPr txBox="1"/>
          <p:nvPr/>
        </p:nvSpPr>
        <p:spPr>
          <a:xfrm>
            <a:off x="10424160" y="6355080"/>
            <a:ext cx="1005840" cy="320040"/>
          </a:xfrm>
          <a:prstGeom prst="rect">
            <a:avLst/>
          </a:prstGeom>
          <a:noFill/>
        </p:spPr>
        <p:txBody>
          <a:bodyPr wrap="square" anchor="t">
            <a:spAutoFit/>
          </a:bodyPr>
          <a:lstStyle/>
          <a:p>
            <a:pPr algn="r">
              <a:lnSpc>
                <a:spcPct val="115000"/>
              </a:lnSpc>
            </a:pPr>
            <a:r>
              <a:rPr sz="1000" b="0">
                <a:solidFill>
                  <a:srgbClr val="6B7482"/>
                </a:solidFill>
                <a:latin typeface="Segoe UI"/>
              </a:rP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4181F"/>
        </a:solidFill>
        <a:effectLst/>
      </p:bgPr>
    </p:bg>
    <p:spTree>
      <p:nvGrpSpPr>
        <p:cNvPr id="1" name=""/>
        <p:cNvGrpSpPr/>
        <p:nvPr/>
      </p:nvGrpSpPr>
      <p:grpSpPr>
        <a:xfrm>
          <a:off x="0" y="0"/>
          <a:ext cx="0" cy="0"/>
          <a:chOff x="0" y="0"/>
          <a:chExt cx="0" cy="0"/>
        </a:xfrm>
      </p:grpSpPr>
      <p:sp>
        <p:nvSpPr>
          <p:cNvPr id="2" name="TextBox 1"/>
          <p:cNvSpPr txBox="1"/>
          <p:nvPr/>
        </p:nvSpPr>
        <p:spPr>
          <a:xfrm>
            <a:off x="1097280" y="1554480"/>
            <a:ext cx="10058400" cy="457200"/>
          </a:xfrm>
          <a:prstGeom prst="rect">
            <a:avLst/>
          </a:prstGeom>
          <a:noFill/>
        </p:spPr>
        <p:txBody>
          <a:bodyPr wrap="square" anchor="t">
            <a:spAutoFit/>
          </a:bodyPr>
          <a:lstStyle/>
          <a:p>
            <a:pPr algn="l">
              <a:lnSpc>
                <a:spcPct val="115000"/>
              </a:lnSpc>
            </a:pPr>
            <a:r>
              <a:rPr sz="1300" b="1">
                <a:solidFill>
                  <a:srgbClr val="EE6C1E"/>
                </a:solidFill>
                <a:latin typeface="Segoe UI"/>
              </a:rPr>
              <a:t>LA QUESTION A CHANGÉ</a:t>
            </a:r>
          </a:p>
        </p:txBody>
      </p:sp>
      <p:sp>
        <p:nvSpPr>
          <p:cNvPr id="3" name="TextBox 2"/>
          <p:cNvSpPr txBox="1"/>
          <p:nvPr/>
        </p:nvSpPr>
        <p:spPr>
          <a:xfrm>
            <a:off x="1097280" y="2194560"/>
            <a:ext cx="9875520" cy="1097280"/>
          </a:xfrm>
          <a:prstGeom prst="rect">
            <a:avLst/>
          </a:prstGeom>
          <a:noFill/>
        </p:spPr>
        <p:txBody>
          <a:bodyPr wrap="square" anchor="t">
            <a:spAutoFit/>
          </a:bodyPr>
          <a:lstStyle/>
          <a:p>
            <a:pPr algn="l">
              <a:lnSpc>
                <a:spcPct val="130000"/>
              </a:lnSpc>
            </a:pPr>
            <a:r>
              <a:rPr sz="2600" b="0">
                <a:solidFill>
                  <a:srgbClr val="A8B0BB"/>
                </a:solidFill>
                <a:latin typeface="Segoe UI"/>
              </a:rPr>
              <a:t>Hier :  « qui dois-je relancer aujourd'hui, et pourquoi ? »</a:t>
            </a:r>
          </a:p>
        </p:txBody>
      </p:sp>
      <p:sp>
        <p:nvSpPr>
          <p:cNvPr id="4" name="TextBox 3"/>
          <p:cNvSpPr txBox="1"/>
          <p:nvPr/>
        </p:nvSpPr>
        <p:spPr>
          <a:xfrm>
            <a:off x="1097280" y="3383280"/>
            <a:ext cx="9875520" cy="1463040"/>
          </a:xfrm>
          <a:prstGeom prst="rect">
            <a:avLst/>
          </a:prstGeom>
          <a:noFill/>
        </p:spPr>
        <p:txBody>
          <a:bodyPr wrap="square" anchor="t">
            <a:spAutoFit/>
          </a:bodyPr>
          <a:lstStyle/>
          <a:p>
            <a:pPr algn="l">
              <a:lnSpc>
                <a:spcPct val="130000"/>
              </a:lnSpc>
            </a:pPr>
            <a:r>
              <a:rPr sz="3000" b="1">
                <a:solidFill>
                  <a:srgbClr val="FFFFFF"/>
                </a:solidFill>
                <a:latin typeface="Segoe UI"/>
              </a:rPr>
              <a:t>Aujourd'hui :  « qu'est-ce qui a changé depuis hier, et qui prévenir ? »</a:t>
            </a:r>
          </a:p>
        </p:txBody>
      </p:sp>
      <p:sp>
        <p:nvSpPr>
          <p:cNvPr id="5" name="Rectangle 4"/>
          <p:cNvSpPr/>
          <p:nvPr/>
        </p:nvSpPr>
        <p:spPr>
          <a:xfrm>
            <a:off x="1097280" y="4892040"/>
            <a:ext cx="1463040" cy="36576"/>
          </a:xfrm>
          <a:prstGeom prst="rect">
            <a:avLst/>
          </a:prstGeom>
          <a:solidFill>
            <a:srgbClr val="EE6C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97280" y="5166360"/>
            <a:ext cx="10058400" cy="914400"/>
          </a:xfrm>
          <a:prstGeom prst="rect">
            <a:avLst/>
          </a:prstGeom>
          <a:noFill/>
        </p:spPr>
        <p:txBody>
          <a:bodyPr wrap="square" anchor="t">
            <a:spAutoFit/>
          </a:bodyPr>
          <a:lstStyle/>
          <a:p>
            <a:pPr algn="l">
              <a:lnSpc>
                <a:spcPct val="150000"/>
              </a:lnSpc>
            </a:pPr>
            <a:r>
              <a:rPr sz="1400" b="0">
                <a:solidFill>
                  <a:srgbClr val="A8B0BB"/>
                </a:solidFill>
                <a:latin typeface="Segoe UI"/>
              </a:rPr>
              <a:t>learner-success-front.onrender.com/learner-success</a:t>
            </a:r>
          </a:p>
          <a:p>
            <a:pPr algn="l">
              <a:lnSpc>
                <a:spcPct val="150000"/>
              </a:lnSpc>
            </a:pPr>
            <a:r>
              <a:rPr sz="1400" b="0">
                <a:solidFill>
                  <a:srgbClr val="A8B0BB"/>
                </a:solidFill>
                <a:latin typeface="Segoe UI"/>
              </a:rPr>
              <a:t>Papa Malick NDIAYE  ·  Cheikh Massamba Dia  ·  Kiné DIALLO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TotalTime>
  <Words>1304</Words>
  <Application>Microsoft Office PowerPoint</Application>
  <PresentationFormat>Grand écran</PresentationFormat>
  <Paragraphs>174</Paragraphs>
  <Slides>10</Slides>
  <Notes>10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10</vt:i4>
      </vt:variant>
    </vt:vector>
  </HeadingPairs>
  <TitlesOfParts>
    <vt:vector size="14" baseType="lpstr">
      <vt:lpstr>Arial</vt:lpstr>
      <vt:lpstr>Calibri</vt:lpstr>
      <vt:lpstr>Segoe UI</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Papa Malick NDIAYE</cp:lastModifiedBy>
  <cp:revision>2</cp:revision>
  <dcterms:created xsi:type="dcterms:W3CDTF">2013-01-27T09:14:16Z</dcterms:created>
  <dcterms:modified xsi:type="dcterms:W3CDTF">2026-09-10T23:27:26Z</dcterms:modified>
  <cp:category/>
</cp:coreProperties>
</file>